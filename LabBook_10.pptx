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23"/>
  </p:notesMasterIdLst>
  <p:handoutMasterIdLst>
    <p:handoutMasterId r:id="rId24"/>
  </p:handoutMasterIdLst>
  <p:sldIdLst>
    <p:sldId id="256" r:id="rId5"/>
    <p:sldId id="295" r:id="rId6"/>
    <p:sldId id="290" r:id="rId7"/>
    <p:sldId id="298" r:id="rId8"/>
    <p:sldId id="299" r:id="rId9"/>
    <p:sldId id="300" r:id="rId10"/>
    <p:sldId id="301" r:id="rId11"/>
    <p:sldId id="291" r:id="rId12"/>
    <p:sldId id="302" r:id="rId13"/>
    <p:sldId id="292" r:id="rId14"/>
    <p:sldId id="303" r:id="rId15"/>
    <p:sldId id="297" r:id="rId16"/>
    <p:sldId id="307" r:id="rId17"/>
    <p:sldId id="293" r:id="rId18"/>
    <p:sldId id="304" r:id="rId19"/>
    <p:sldId id="306" r:id="rId20"/>
    <p:sldId id="305" r:id="rId21"/>
    <p:sldId id="288" r:id="rId22"/>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83703B-D835-424A-9F12-31EC173C154F}" v="877" dt="2026-03-15T23:13:57.555"/>
    <p1510:client id="{948786A4-D002-4EC9-9EFC-0836ED1DFD1B}" v="2" dt="2026-03-15T20:32:00.484"/>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4" d="100"/>
          <a:sy n="74" d="100"/>
        </p:scale>
        <p:origin x="1013" y="67"/>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15/03/2026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15/03/2026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8</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10</a:t>
            </a:fld>
            <a:endParaRPr lang="es-ES"/>
          </a:p>
        </p:txBody>
      </p:sp>
    </p:spTree>
    <p:extLst>
      <p:ext uri="{BB962C8B-B14F-4D97-AF65-F5344CB8AC3E}">
        <p14:creationId xmlns:p14="http://schemas.microsoft.com/office/powerpoint/2010/main" val="41160790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9AA65-166B-474B-A6C9-9858D86A944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8158223-A8BA-05F6-464C-EC03A9FB8C5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ECB4DF-C329-8F47-9ECE-661B5B2BF9AC}"/>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041B2276-A4E2-DFBF-0088-6997E86C9FE1}"/>
              </a:ext>
            </a:extLst>
          </p:cNvPr>
          <p:cNvSpPr>
            <a:spLocks noGrp="1"/>
          </p:cNvSpPr>
          <p:nvPr>
            <p:ph type="sldNum" sz="quarter" idx="5"/>
          </p:nvPr>
        </p:nvSpPr>
        <p:spPr/>
        <p:txBody>
          <a:bodyPr/>
          <a:lstStyle/>
          <a:p>
            <a:fld id="{676223B9-C868-4436-87D9-1A3152E1157A}" type="slidenum">
              <a:rPr lang="es-ES" smtClean="0"/>
              <a:t>12</a:t>
            </a:fld>
            <a:endParaRPr lang="es-ES"/>
          </a:p>
        </p:txBody>
      </p:sp>
    </p:spTree>
    <p:extLst>
      <p:ext uri="{BB962C8B-B14F-4D97-AF65-F5344CB8AC3E}">
        <p14:creationId xmlns:p14="http://schemas.microsoft.com/office/powerpoint/2010/main" val="23623159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3B86-D15F-9CD8-C5EA-3EAAD8BACC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73881A-26A5-ECF9-C6F2-3DEFA77AEF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7AFC79-4973-3930-959B-AEF8810CFE6A}"/>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8345D0F3-6273-0338-FCDA-175B73D7C9EB}"/>
              </a:ext>
            </a:extLst>
          </p:cNvPr>
          <p:cNvSpPr>
            <a:spLocks noGrp="1"/>
          </p:cNvSpPr>
          <p:nvPr>
            <p:ph type="sldNum" sz="quarter" idx="5"/>
          </p:nvPr>
        </p:nvSpPr>
        <p:spPr/>
        <p:txBody>
          <a:bodyPr/>
          <a:lstStyle/>
          <a:p>
            <a:fld id="{676223B9-C868-4436-87D9-1A3152E1157A}" type="slidenum">
              <a:rPr lang="es-ES" smtClean="0"/>
              <a:t>14</a:t>
            </a:fld>
            <a:endParaRPr lang="es-ES"/>
          </a:p>
        </p:txBody>
      </p:sp>
    </p:spTree>
    <p:extLst>
      <p:ext uri="{BB962C8B-B14F-4D97-AF65-F5344CB8AC3E}">
        <p14:creationId xmlns:p14="http://schemas.microsoft.com/office/powerpoint/2010/main" val="29173827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1.0 WAVEGUIDES</a:t>
            </a:r>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4.sv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6106795" cy="513715"/>
          </a:xfrm>
          <a:prstGeom prst="rect">
            <a:avLst/>
          </a:prstGeom>
        </p:spPr>
        <p:txBody>
          <a:bodyPr vert="horz" wrap="square" lIns="0" tIns="12700" rIns="0" bIns="0" rtlCol="0">
            <a:spAutoFit/>
          </a:bodyPr>
          <a:lstStyle/>
          <a:p>
            <a:pPr marL="12700">
              <a:lnSpc>
                <a:spcPct val="100000"/>
              </a:lnSpc>
              <a:spcBef>
                <a:spcPts val="100"/>
              </a:spcBef>
            </a:pPr>
            <a:r>
              <a:rPr lang="es-ES" sz="3200" b="1" err="1">
                <a:latin typeface="Lucida Sans"/>
                <a:cs typeface="Lucida Sans"/>
              </a:rPr>
              <a:t>Lab</a:t>
            </a:r>
            <a:r>
              <a:rPr lang="es-ES" sz="3200" b="1">
                <a:latin typeface="Lucida Sans"/>
                <a:cs typeface="Lucida Sans"/>
              </a:rPr>
              <a:t> Book 1.0. </a:t>
            </a:r>
            <a:r>
              <a:rPr lang="es-ES" sz="3200" b="1" err="1">
                <a:latin typeface="Lucida Sans"/>
                <a:cs typeface="Lucida Sans"/>
              </a:rPr>
              <a:t>Waveguides</a:t>
            </a:r>
            <a:endParaRPr sz="320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err="1">
                <a:latin typeface="Arial"/>
                <a:cs typeface="Arial"/>
              </a:rPr>
              <a:t>Student</a:t>
            </a:r>
            <a:r>
              <a:rPr lang="es-ES" spc="165">
                <a:latin typeface="Arial"/>
                <a:cs typeface="Arial"/>
              </a:rPr>
              <a:t>: </a:t>
            </a:r>
            <a:endParaRPr sz="180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err="1">
                <a:latin typeface="+mj-lt"/>
                <a:cs typeface="Lucida Sans"/>
              </a:rPr>
              <a:t>Instructions</a:t>
            </a:r>
            <a:br>
              <a:rPr lang="es-ES" sz="2400" spc="-5">
                <a:latin typeface="+mj-lt"/>
                <a:cs typeface="Lucida Sans"/>
              </a:rPr>
            </a:br>
            <a:r>
              <a:rPr lang="es-ES" b="0" spc="-5">
                <a:latin typeface="+mj-lt"/>
                <a:cs typeface="Lucida Sans"/>
              </a:rPr>
              <a:t>General</a:t>
            </a:r>
            <a:endParaRPr sz="2400" b="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1.0 WAVEGUIDES</a:t>
            </a:r>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a:solidFill>
                  <a:sysClr val="windowText" lastClr="000000"/>
                </a:solidFill>
                <a:sym typeface="Wingdings" pitchFamily="2" charset="2"/>
              </a:rPr>
              <a:t>Fork the repo: https://github.com/cccanvas-upv/cifoin-lab1.git</a:t>
            </a:r>
          </a:p>
          <a:p>
            <a:pPr marL="800100" lvl="1" indent="-342900" algn="just">
              <a:buFont typeface="Arial" panose="020B0604020202020204" pitchFamily="34" charset="0"/>
              <a:buChar char="•"/>
            </a:pPr>
            <a:r>
              <a:rPr lang="en-US" kern="0">
                <a:solidFill>
                  <a:sysClr val="windowText" lastClr="000000"/>
                </a:solidFill>
                <a:sym typeface="Wingdings" pitchFamily="2" charset="2"/>
              </a:rPr>
              <a:t>Clone the repo using </a:t>
            </a:r>
            <a:r>
              <a:rPr lang="en-US" kern="0" err="1">
                <a:solidFill>
                  <a:sysClr val="windowText" lastClr="000000"/>
                </a:solidFill>
                <a:sym typeface="Wingdings" pitchFamily="2" charset="2"/>
              </a:rPr>
              <a:t>VSCode</a:t>
            </a:r>
            <a:endParaRPr lang="en-US" kern="0">
              <a:solidFill>
                <a:sysClr val="windowText" lastClr="000000"/>
              </a:solidFill>
              <a:sym typeface="Wingdings" pitchFamily="2" charset="2"/>
            </a:endParaRPr>
          </a:p>
          <a:p>
            <a:pPr marL="342900" indent="-342900" algn="just">
              <a:buFont typeface="Arial" panose="020B0604020202020204" pitchFamily="34" charset="0"/>
              <a:buChar char="•"/>
            </a:pPr>
            <a:r>
              <a:rPr lang="en-US" kern="0">
                <a:solidFill>
                  <a:sysClr val="windowText" lastClr="000000"/>
                </a:solidFill>
              </a:rPr>
              <a:t>Run the </a:t>
            </a:r>
            <a:r>
              <a:rPr lang="en-US" kern="0" err="1">
                <a:solidFill>
                  <a:sysClr val="windowText" lastClr="000000"/>
                </a:solidFill>
              </a:rPr>
              <a:t>Jupyter</a:t>
            </a:r>
            <a:r>
              <a:rPr lang="en-US" kern="0">
                <a:solidFill>
                  <a:sysClr val="windowText" lastClr="000000"/>
                </a:solidFill>
              </a:rPr>
              <a:t> Notebook: </a:t>
            </a:r>
          </a:p>
          <a:p>
            <a:pPr marL="800100" lvl="1" indent="-342900" algn="just">
              <a:buFont typeface="Arial" panose="020B0604020202020204" pitchFamily="34" charset="0"/>
              <a:buChar char="•"/>
            </a:pPr>
            <a:r>
              <a:rPr lang="en-US" kern="0" err="1">
                <a:solidFill>
                  <a:sysClr val="windowText" lastClr="000000"/>
                </a:solidFill>
              </a:rPr>
              <a:t>WAVEGUIDES_Student.ipynb</a:t>
            </a:r>
            <a:r>
              <a:rPr lang="en-US" kern="0">
                <a:solidFill>
                  <a:sysClr val="windowText" lastClr="000000"/>
                </a:solidFill>
              </a:rPr>
              <a:t> </a:t>
            </a:r>
          </a:p>
          <a:p>
            <a:pPr algn="just"/>
            <a:endParaRPr lang="en-US" sz="2000" b="1" i="1" u="sng"/>
          </a:p>
          <a:p>
            <a:pPr algn="just"/>
            <a:endParaRPr lang="en-US" sz="2000" kern="0">
              <a:solidFill>
                <a:sysClr val="windowText" lastClr="000000"/>
              </a:solidFill>
            </a:endParaRPr>
          </a:p>
        </p:txBody>
      </p:sp>
      <p:sp>
        <p:nvSpPr>
          <p:cNvPr id="96" name="object 7">
            <a:extLst>
              <a:ext uri="{FF2B5EF4-FFF2-40B4-BE49-F238E27FC236}">
                <a16:creationId xmlns:a16="http://schemas.microsoft.com/office/drawing/2014/main" id="{BB459788-0671-D4BA-B6DB-A3544D24EA92}"/>
              </a:ext>
            </a:extLst>
          </p:cNvPr>
          <p:cNvSpPr/>
          <p:nvPr/>
        </p:nvSpPr>
        <p:spPr>
          <a:xfrm>
            <a:off x="902765" y="3422925"/>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a:p>
        </p:txBody>
      </p:sp>
      <p:sp>
        <p:nvSpPr>
          <p:cNvPr id="97" name="object 62">
            <a:extLst>
              <a:ext uri="{FF2B5EF4-FFF2-40B4-BE49-F238E27FC236}">
                <a16:creationId xmlns:a16="http://schemas.microsoft.com/office/drawing/2014/main" id="{13E0425E-CEDF-CBC4-B34B-0CC3951920EA}"/>
              </a:ext>
            </a:extLst>
          </p:cNvPr>
          <p:cNvSpPr/>
          <p:nvPr/>
        </p:nvSpPr>
        <p:spPr>
          <a:xfrm>
            <a:off x="1747061" y="3983757"/>
            <a:ext cx="76200" cy="986155"/>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98" name="object 63">
            <a:extLst>
              <a:ext uri="{FF2B5EF4-FFF2-40B4-BE49-F238E27FC236}">
                <a16:creationId xmlns:a16="http://schemas.microsoft.com/office/drawing/2014/main" id="{FDE45797-C0E3-ACE0-F66B-057BDEDB9070}"/>
              </a:ext>
            </a:extLst>
          </p:cNvPr>
          <p:cNvSpPr txBox="1"/>
          <p:nvPr/>
        </p:nvSpPr>
        <p:spPr>
          <a:xfrm>
            <a:off x="1091131" y="4210910"/>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a:latin typeface="Calibri"/>
                <a:cs typeface="Calibri"/>
              </a:rPr>
              <a:t>h</a:t>
            </a:r>
          </a:p>
          <a:p>
            <a:pPr marR="5080" algn="ctr">
              <a:lnSpc>
                <a:spcPct val="100000"/>
              </a:lnSpc>
              <a:spcBef>
                <a:spcPts val="5"/>
              </a:spcBef>
            </a:pPr>
            <a:r>
              <a:rPr sz="1400" spc="-10">
                <a:latin typeface="Calibri"/>
                <a:cs typeface="Calibri"/>
              </a:rPr>
              <a:t>(h</a:t>
            </a:r>
            <a:r>
              <a:rPr sz="1400">
                <a:latin typeface="Calibri"/>
                <a:cs typeface="Calibri"/>
              </a:rPr>
              <a:t>eig</a:t>
            </a:r>
            <a:r>
              <a:rPr sz="1400" spc="-25">
                <a:latin typeface="Calibri"/>
                <a:cs typeface="Calibri"/>
              </a:rPr>
              <a:t>h</a:t>
            </a:r>
            <a:r>
              <a:rPr sz="1400" spc="-5">
                <a:latin typeface="Calibri"/>
                <a:cs typeface="Calibri"/>
              </a:rPr>
              <a:t>t</a:t>
            </a:r>
            <a:r>
              <a:rPr sz="1400">
                <a:latin typeface="Calibri"/>
                <a:cs typeface="Calibri"/>
              </a:rPr>
              <a:t>)</a:t>
            </a:r>
          </a:p>
        </p:txBody>
      </p:sp>
      <p:sp>
        <p:nvSpPr>
          <p:cNvPr id="99" name="object 64">
            <a:extLst>
              <a:ext uri="{FF2B5EF4-FFF2-40B4-BE49-F238E27FC236}">
                <a16:creationId xmlns:a16="http://schemas.microsoft.com/office/drawing/2014/main" id="{ABAAA5DD-56CA-BF94-2180-F0866658B6B3}"/>
              </a:ext>
            </a:extLst>
          </p:cNvPr>
          <p:cNvSpPr/>
          <p:nvPr/>
        </p:nvSpPr>
        <p:spPr>
          <a:xfrm>
            <a:off x="1984805" y="3773445"/>
            <a:ext cx="1758314" cy="76200"/>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0" name="object 65">
            <a:extLst>
              <a:ext uri="{FF2B5EF4-FFF2-40B4-BE49-F238E27FC236}">
                <a16:creationId xmlns:a16="http://schemas.microsoft.com/office/drawing/2014/main" id="{A1EF013C-5123-D9A7-DC76-FEFD731E96E2}"/>
              </a:ext>
            </a:extLst>
          </p:cNvPr>
          <p:cNvSpPr txBox="1"/>
          <p:nvPr/>
        </p:nvSpPr>
        <p:spPr>
          <a:xfrm>
            <a:off x="2504743" y="3532730"/>
            <a:ext cx="733425" cy="240029"/>
          </a:xfrm>
          <a:prstGeom prst="rect">
            <a:avLst/>
          </a:prstGeom>
        </p:spPr>
        <p:txBody>
          <a:bodyPr vert="horz" wrap="square" lIns="0" tIns="13335" rIns="0" bIns="0" rtlCol="0">
            <a:spAutoFit/>
          </a:bodyPr>
          <a:lstStyle/>
          <a:p>
            <a:pPr>
              <a:lnSpc>
                <a:spcPct val="100000"/>
              </a:lnSpc>
              <a:spcBef>
                <a:spcPts val="105"/>
              </a:spcBef>
            </a:pPr>
            <a:r>
              <a:rPr sz="1400" spc="5">
                <a:latin typeface="Calibri"/>
                <a:cs typeface="Calibri"/>
              </a:rPr>
              <a:t>W</a:t>
            </a:r>
            <a:r>
              <a:rPr sz="1400" spc="-65">
                <a:latin typeface="Calibri"/>
                <a:cs typeface="Calibri"/>
              </a:rPr>
              <a:t> </a:t>
            </a:r>
            <a:r>
              <a:rPr sz="1400" spc="-5">
                <a:latin typeface="Calibri"/>
                <a:cs typeface="Calibri"/>
              </a:rPr>
              <a:t>(width)</a:t>
            </a:r>
            <a:endParaRPr sz="1400">
              <a:latin typeface="Calibri"/>
              <a:cs typeface="Calibri"/>
            </a:endParaRPr>
          </a:p>
        </p:txBody>
      </p:sp>
      <p:sp>
        <p:nvSpPr>
          <p:cNvPr id="101" name="object 73">
            <a:extLst>
              <a:ext uri="{FF2B5EF4-FFF2-40B4-BE49-F238E27FC236}">
                <a16:creationId xmlns:a16="http://schemas.microsoft.com/office/drawing/2014/main" id="{4C5C0871-D9B5-E642-7661-FFBCAD75720B}"/>
              </a:ext>
            </a:extLst>
          </p:cNvPr>
          <p:cNvSpPr txBox="1"/>
          <p:nvPr/>
        </p:nvSpPr>
        <p:spPr>
          <a:xfrm>
            <a:off x="1984805" y="3983757"/>
            <a:ext cx="1758950" cy="986155"/>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a:latin typeface="Times New Roman"/>
              <a:cs typeface="Times New Roman"/>
            </a:endParaRPr>
          </a:p>
          <a:p>
            <a:pPr marL="18415" algn="ctr">
              <a:lnSpc>
                <a:spcPct val="100000"/>
              </a:lnSpc>
            </a:pPr>
            <a:r>
              <a:rPr sz="1600" b="1" spc="-10">
                <a:latin typeface="Calibri"/>
                <a:cs typeface="Calibri"/>
              </a:rPr>
              <a:t>Core</a:t>
            </a:r>
            <a:endParaRPr sz="1600">
              <a:latin typeface="Calibri"/>
              <a:cs typeface="Calibri"/>
            </a:endParaRPr>
          </a:p>
        </p:txBody>
      </p:sp>
      <p:sp>
        <p:nvSpPr>
          <p:cNvPr id="102" name="object 74">
            <a:extLst>
              <a:ext uri="{FF2B5EF4-FFF2-40B4-BE49-F238E27FC236}">
                <a16:creationId xmlns:a16="http://schemas.microsoft.com/office/drawing/2014/main" id="{10CC4DBA-05F4-4CDC-BA0E-6200AF622CA9}"/>
              </a:ext>
            </a:extLst>
          </p:cNvPr>
          <p:cNvSpPr txBox="1"/>
          <p:nvPr/>
        </p:nvSpPr>
        <p:spPr>
          <a:xfrm>
            <a:off x="3983988" y="4338253"/>
            <a:ext cx="741045" cy="269240"/>
          </a:xfrm>
          <a:prstGeom prst="rect">
            <a:avLst/>
          </a:prstGeom>
        </p:spPr>
        <p:txBody>
          <a:bodyPr vert="horz" wrap="square" lIns="0" tIns="12065" rIns="0" bIns="0" rtlCol="0">
            <a:spAutoFit/>
          </a:bodyPr>
          <a:lstStyle/>
          <a:p>
            <a:pPr>
              <a:lnSpc>
                <a:spcPct val="100000"/>
              </a:lnSpc>
              <a:spcBef>
                <a:spcPts val="95"/>
              </a:spcBef>
            </a:pPr>
            <a:r>
              <a:rPr sz="1600" b="1" spc="-10">
                <a:latin typeface="Calibri"/>
                <a:cs typeface="Calibri"/>
              </a:rPr>
              <a:t>Cladding</a:t>
            </a:r>
            <a:endParaRPr sz="1600">
              <a:latin typeface="Calibri"/>
              <a:cs typeface="Calibri"/>
            </a:endParaRPr>
          </a:p>
        </p:txBody>
      </p:sp>
      <p:sp>
        <p:nvSpPr>
          <p:cNvPr id="111" name="object 7">
            <a:extLst>
              <a:ext uri="{FF2B5EF4-FFF2-40B4-BE49-F238E27FC236}">
                <a16:creationId xmlns:a16="http://schemas.microsoft.com/office/drawing/2014/main" id="{06801468-6F27-A16A-64E3-D7AD4B6B6B96}"/>
              </a:ext>
            </a:extLst>
          </p:cNvPr>
          <p:cNvSpPr/>
          <p:nvPr/>
        </p:nvSpPr>
        <p:spPr>
          <a:xfrm>
            <a:off x="7391400" y="3422925"/>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a:p>
        </p:txBody>
      </p:sp>
      <p:sp>
        <p:nvSpPr>
          <p:cNvPr id="114" name="object 64">
            <a:extLst>
              <a:ext uri="{FF2B5EF4-FFF2-40B4-BE49-F238E27FC236}">
                <a16:creationId xmlns:a16="http://schemas.microsoft.com/office/drawing/2014/main" id="{D9E5D738-CA47-1898-E0D8-DFBC514F5A50}"/>
              </a:ext>
            </a:extLst>
          </p:cNvPr>
          <p:cNvSpPr/>
          <p:nvPr/>
        </p:nvSpPr>
        <p:spPr>
          <a:xfrm>
            <a:off x="8473440" y="3773445"/>
            <a:ext cx="1758314" cy="76200"/>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15" name="object 65">
            <a:extLst>
              <a:ext uri="{FF2B5EF4-FFF2-40B4-BE49-F238E27FC236}">
                <a16:creationId xmlns:a16="http://schemas.microsoft.com/office/drawing/2014/main" id="{74A4CAE1-BC33-1BCD-6F24-54F1DFA8AEDB}"/>
              </a:ext>
            </a:extLst>
          </p:cNvPr>
          <p:cNvSpPr txBox="1"/>
          <p:nvPr/>
        </p:nvSpPr>
        <p:spPr>
          <a:xfrm>
            <a:off x="8993378" y="3532730"/>
            <a:ext cx="733425" cy="240029"/>
          </a:xfrm>
          <a:prstGeom prst="rect">
            <a:avLst/>
          </a:prstGeom>
        </p:spPr>
        <p:txBody>
          <a:bodyPr vert="horz" wrap="square" lIns="0" tIns="13335" rIns="0" bIns="0" rtlCol="0">
            <a:spAutoFit/>
          </a:bodyPr>
          <a:lstStyle/>
          <a:p>
            <a:pPr>
              <a:lnSpc>
                <a:spcPct val="100000"/>
              </a:lnSpc>
              <a:spcBef>
                <a:spcPts val="105"/>
              </a:spcBef>
            </a:pPr>
            <a:r>
              <a:rPr sz="1400" spc="5">
                <a:latin typeface="Calibri"/>
                <a:cs typeface="Calibri"/>
              </a:rPr>
              <a:t>W</a:t>
            </a:r>
            <a:r>
              <a:rPr sz="1400" spc="-65">
                <a:latin typeface="Calibri"/>
                <a:cs typeface="Calibri"/>
              </a:rPr>
              <a:t> </a:t>
            </a:r>
            <a:r>
              <a:rPr sz="1400" spc="-5">
                <a:latin typeface="Calibri"/>
                <a:cs typeface="Calibri"/>
              </a:rPr>
              <a:t>(width)</a:t>
            </a:r>
            <a:endParaRPr sz="1400">
              <a:latin typeface="Calibri"/>
              <a:cs typeface="Calibri"/>
            </a:endParaRPr>
          </a:p>
        </p:txBody>
      </p:sp>
      <p:sp>
        <p:nvSpPr>
          <p:cNvPr id="116" name="object 73">
            <a:extLst>
              <a:ext uri="{FF2B5EF4-FFF2-40B4-BE49-F238E27FC236}">
                <a16:creationId xmlns:a16="http://schemas.microsoft.com/office/drawing/2014/main" id="{CC9D2269-0CA8-143F-4E45-F3AF594A2ED3}"/>
              </a:ext>
            </a:extLst>
          </p:cNvPr>
          <p:cNvSpPr txBox="1"/>
          <p:nvPr/>
        </p:nvSpPr>
        <p:spPr>
          <a:xfrm>
            <a:off x="8473440" y="3983757"/>
            <a:ext cx="1758950" cy="986155"/>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a:latin typeface="Times New Roman"/>
              <a:cs typeface="Times New Roman"/>
            </a:endParaRPr>
          </a:p>
          <a:p>
            <a:pPr marL="18415" algn="ctr">
              <a:lnSpc>
                <a:spcPct val="100000"/>
              </a:lnSpc>
            </a:pPr>
            <a:r>
              <a:rPr sz="1600" b="1" spc="-10">
                <a:latin typeface="Calibri"/>
                <a:cs typeface="Calibri"/>
              </a:rPr>
              <a:t>Core</a:t>
            </a:r>
            <a:endParaRPr sz="1600">
              <a:latin typeface="Calibri"/>
              <a:cs typeface="Calibri"/>
            </a:endParaRPr>
          </a:p>
        </p:txBody>
      </p:sp>
      <p:sp>
        <p:nvSpPr>
          <p:cNvPr id="117" name="object 74">
            <a:extLst>
              <a:ext uri="{FF2B5EF4-FFF2-40B4-BE49-F238E27FC236}">
                <a16:creationId xmlns:a16="http://schemas.microsoft.com/office/drawing/2014/main" id="{8A3332FF-25D4-1955-323F-BBD1D30324AC}"/>
              </a:ext>
            </a:extLst>
          </p:cNvPr>
          <p:cNvSpPr txBox="1"/>
          <p:nvPr/>
        </p:nvSpPr>
        <p:spPr>
          <a:xfrm>
            <a:off x="10472623" y="4338253"/>
            <a:ext cx="741045" cy="269240"/>
          </a:xfrm>
          <a:prstGeom prst="rect">
            <a:avLst/>
          </a:prstGeom>
        </p:spPr>
        <p:txBody>
          <a:bodyPr vert="horz" wrap="square" lIns="0" tIns="12065" rIns="0" bIns="0" rtlCol="0">
            <a:spAutoFit/>
          </a:bodyPr>
          <a:lstStyle/>
          <a:p>
            <a:pPr>
              <a:lnSpc>
                <a:spcPct val="100000"/>
              </a:lnSpc>
              <a:spcBef>
                <a:spcPts val="95"/>
              </a:spcBef>
            </a:pPr>
            <a:r>
              <a:rPr sz="1600" b="1" spc="-10">
                <a:latin typeface="Calibri"/>
                <a:cs typeface="Calibri"/>
              </a:rPr>
              <a:t>Cladding</a:t>
            </a:r>
            <a:endParaRPr sz="1600">
              <a:latin typeface="Calibri"/>
              <a:cs typeface="Calibri"/>
            </a:endParaRPr>
          </a:p>
        </p:txBody>
      </p:sp>
      <p:sp>
        <p:nvSpPr>
          <p:cNvPr id="120" name="object 73">
            <a:extLst>
              <a:ext uri="{FF2B5EF4-FFF2-40B4-BE49-F238E27FC236}">
                <a16:creationId xmlns:a16="http://schemas.microsoft.com/office/drawing/2014/main" id="{C699977C-9138-F9B9-E43D-0CCB01AEB75F}"/>
              </a:ext>
            </a:extLst>
          </p:cNvPr>
          <p:cNvSpPr txBox="1"/>
          <p:nvPr/>
        </p:nvSpPr>
        <p:spPr>
          <a:xfrm>
            <a:off x="7391400" y="4690819"/>
            <a:ext cx="39061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lang="es-ES" sz="2350">
              <a:latin typeface="Times New Roman"/>
              <a:cs typeface="Times New Roman"/>
            </a:endParaRPr>
          </a:p>
          <a:p>
            <a:pPr marL="18415">
              <a:lnSpc>
                <a:spcPct val="100000"/>
              </a:lnSpc>
            </a:pPr>
            <a:r>
              <a:rPr lang="es-ES" sz="1600" b="1" spc="-10" err="1">
                <a:latin typeface="Calibri"/>
                <a:cs typeface="Calibri"/>
              </a:rPr>
              <a:t>Slab</a:t>
            </a:r>
            <a:endParaRPr sz="1600">
              <a:latin typeface="Calibri"/>
              <a:cs typeface="Calibri"/>
            </a:endParaRPr>
          </a:p>
        </p:txBody>
      </p:sp>
      <p:sp>
        <p:nvSpPr>
          <p:cNvPr id="112" name="object 62">
            <a:extLst>
              <a:ext uri="{FF2B5EF4-FFF2-40B4-BE49-F238E27FC236}">
                <a16:creationId xmlns:a16="http://schemas.microsoft.com/office/drawing/2014/main" id="{04561701-4B4F-F208-98F6-2DAB5C1138D3}"/>
              </a:ext>
            </a:extLst>
          </p:cNvPr>
          <p:cNvSpPr/>
          <p:nvPr/>
        </p:nvSpPr>
        <p:spPr>
          <a:xfrm>
            <a:off x="8575910" y="3994221"/>
            <a:ext cx="56259" cy="694989"/>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21" name="object 62">
            <a:extLst>
              <a:ext uri="{FF2B5EF4-FFF2-40B4-BE49-F238E27FC236}">
                <a16:creationId xmlns:a16="http://schemas.microsoft.com/office/drawing/2014/main" id="{CCA3B0D6-0C9E-B4A6-FA43-1AB5F1821674}"/>
              </a:ext>
            </a:extLst>
          </p:cNvPr>
          <p:cNvSpPr/>
          <p:nvPr/>
        </p:nvSpPr>
        <p:spPr>
          <a:xfrm>
            <a:off x="8233207" y="4689210"/>
            <a:ext cx="55008" cy="613272"/>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13" name="object 63">
            <a:extLst>
              <a:ext uri="{FF2B5EF4-FFF2-40B4-BE49-F238E27FC236}">
                <a16:creationId xmlns:a16="http://schemas.microsoft.com/office/drawing/2014/main" id="{6394166D-0522-24AD-E666-39FE8A3FDC24}"/>
              </a:ext>
            </a:extLst>
          </p:cNvPr>
          <p:cNvSpPr txBox="1"/>
          <p:nvPr/>
        </p:nvSpPr>
        <p:spPr>
          <a:xfrm>
            <a:off x="8351994" y="4887127"/>
            <a:ext cx="674053" cy="228909"/>
          </a:xfrm>
          <a:prstGeom prst="rect">
            <a:avLst/>
          </a:prstGeom>
        </p:spPr>
        <p:txBody>
          <a:bodyPr vert="horz" wrap="square" lIns="0" tIns="13335" rIns="0" bIns="0" rtlCol="0">
            <a:spAutoFit/>
          </a:bodyPr>
          <a:lstStyle/>
          <a:p>
            <a:pPr marR="3175">
              <a:lnSpc>
                <a:spcPct val="100000"/>
              </a:lnSpc>
              <a:spcBef>
                <a:spcPts val="105"/>
              </a:spcBef>
            </a:pPr>
            <a:r>
              <a:rPr lang="es-ES" sz="1400" err="1">
                <a:latin typeface="Calibri"/>
                <a:cs typeface="Calibri"/>
              </a:rPr>
              <a:t>h_slab</a:t>
            </a:r>
            <a:endParaRPr sz="1400">
              <a:latin typeface="Calibri"/>
              <a:cs typeface="Calibri"/>
            </a:endParaRPr>
          </a:p>
        </p:txBody>
      </p:sp>
      <p:sp>
        <p:nvSpPr>
          <p:cNvPr id="122" name="object 63">
            <a:extLst>
              <a:ext uri="{FF2B5EF4-FFF2-40B4-BE49-F238E27FC236}">
                <a16:creationId xmlns:a16="http://schemas.microsoft.com/office/drawing/2014/main" id="{B589EB7D-B26E-4239-A5C2-F96DBBE82162}"/>
              </a:ext>
            </a:extLst>
          </p:cNvPr>
          <p:cNvSpPr txBox="1"/>
          <p:nvPr/>
        </p:nvSpPr>
        <p:spPr>
          <a:xfrm>
            <a:off x="8706378" y="3990085"/>
            <a:ext cx="1380175" cy="228909"/>
          </a:xfrm>
          <a:prstGeom prst="rect">
            <a:avLst/>
          </a:prstGeom>
        </p:spPr>
        <p:txBody>
          <a:bodyPr vert="horz" wrap="square" lIns="0" tIns="13335" rIns="0" bIns="0" rtlCol="0">
            <a:spAutoFit/>
          </a:bodyPr>
          <a:lstStyle/>
          <a:p>
            <a:pPr marR="3175">
              <a:lnSpc>
                <a:spcPct val="100000"/>
              </a:lnSpc>
              <a:spcBef>
                <a:spcPts val="105"/>
              </a:spcBef>
            </a:pPr>
            <a:r>
              <a:rPr lang="es-ES" sz="1400" spc="-10" err="1">
                <a:latin typeface="Calibri"/>
                <a:cs typeface="Calibri"/>
              </a:rPr>
              <a:t>h_core</a:t>
            </a:r>
            <a:r>
              <a:rPr lang="es-ES" sz="1400" spc="-10">
                <a:latin typeface="Calibri"/>
                <a:cs typeface="Calibri"/>
              </a:rPr>
              <a:t> </a:t>
            </a:r>
            <a:endParaRPr sz="1400">
              <a:latin typeface="Calibri"/>
              <a:cs typeface="Calibri"/>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9306491" y="5257071"/>
            <a:ext cx="1980542" cy="369332"/>
          </a:xfrm>
          <a:prstGeom prst="rect">
            <a:avLst/>
          </a:prstGeom>
          <a:noFill/>
        </p:spPr>
        <p:txBody>
          <a:bodyPr wrap="none" rtlCol="0">
            <a:spAutoFit/>
          </a:bodyPr>
          <a:lstStyle/>
          <a:p>
            <a:pPr algn="ctr"/>
            <a:r>
              <a:rPr lang="en-US" b="1"/>
              <a:t>shallow</a:t>
            </a:r>
            <a:r>
              <a:rPr lang="en-US"/>
              <a:t> waveguide</a:t>
            </a:r>
          </a:p>
        </p:txBody>
      </p:sp>
      <p:sp>
        <p:nvSpPr>
          <p:cNvPr id="8" name="CuadroTexto 7">
            <a:extLst>
              <a:ext uri="{FF2B5EF4-FFF2-40B4-BE49-F238E27FC236}">
                <a16:creationId xmlns:a16="http://schemas.microsoft.com/office/drawing/2014/main" id="{7336B5D8-2D70-3E7A-336D-AF55EC49DEB8}"/>
              </a:ext>
            </a:extLst>
          </p:cNvPr>
          <p:cNvSpPr txBox="1"/>
          <p:nvPr/>
        </p:nvSpPr>
        <p:spPr>
          <a:xfrm>
            <a:off x="2969899" y="5257071"/>
            <a:ext cx="2157554" cy="369332"/>
          </a:xfrm>
          <a:prstGeom prst="rect">
            <a:avLst/>
          </a:prstGeom>
          <a:noFill/>
        </p:spPr>
        <p:txBody>
          <a:bodyPr wrap="square">
            <a:spAutoFit/>
          </a:bodyPr>
          <a:lstStyle/>
          <a:p>
            <a:pPr algn="ctr"/>
            <a:r>
              <a:rPr lang="en-US" b="1"/>
              <a:t>deep</a:t>
            </a:r>
            <a:r>
              <a:rPr lang="en-US"/>
              <a:t> waveguide</a:t>
            </a:r>
          </a:p>
        </p:txBody>
      </p:sp>
    </p:spTree>
    <p:extLst>
      <p:ext uri="{BB962C8B-B14F-4D97-AF65-F5344CB8AC3E}">
        <p14:creationId xmlns:p14="http://schemas.microsoft.com/office/powerpoint/2010/main" val="4739228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a:t>Learning outcome #1 – Effective index of a waveguide</a:t>
            </a:r>
            <a:br>
              <a:rPr lang="es-ES" sz="2500" spc="-5">
                <a:latin typeface="+mj-lt"/>
                <a:cs typeface="Lucida Sans"/>
              </a:rPr>
            </a:br>
            <a:endParaRPr sz="2500" b="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1.0 WAVEGUIDES</a:t>
            </a:r>
          </a:p>
        </p:txBody>
      </p:sp>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a:t>INSTRUCTOR:</a:t>
            </a:r>
          </a:p>
          <a:p>
            <a:pPr marL="342900" indent="-342900" algn="just">
              <a:buFont typeface="Arial" panose="020B0604020202020204" pitchFamily="34" charset="0"/>
              <a:buChar char="•"/>
            </a:pPr>
            <a:r>
              <a:rPr lang="en-US" sz="2000"/>
              <a:t>Present Python and </a:t>
            </a:r>
            <a:r>
              <a:rPr lang="en-US" sz="2000" err="1"/>
              <a:t>GDSFactory</a:t>
            </a:r>
            <a:r>
              <a:rPr lang="en-US" sz="2000"/>
              <a:t>: materials, output, results.</a:t>
            </a:r>
          </a:p>
          <a:p>
            <a:pPr marL="342900" indent="-342900" algn="just">
              <a:buFont typeface="Arial" panose="020B0604020202020204" pitchFamily="34" charset="0"/>
              <a:buChar char="•"/>
            </a:pPr>
            <a:r>
              <a:rPr lang="en-US" sz="2000"/>
              <a:t>Explain how to run a simulation for a particular cross-section. </a:t>
            </a:r>
          </a:p>
          <a:p>
            <a:pPr marL="342900" indent="-342900" algn="just">
              <a:buFont typeface="Arial" panose="020B0604020202020204" pitchFamily="34" charset="0"/>
              <a:buChar char="•"/>
            </a:pPr>
            <a:r>
              <a:rPr lang="en-US" sz="2000"/>
              <a:t>Showcase how to change between shallow and deep waveguide.</a:t>
            </a:r>
          </a:p>
          <a:p>
            <a:pPr marL="342900" indent="-342900" algn="just">
              <a:buFont typeface="Arial" panose="020B0604020202020204" pitchFamily="34" charset="0"/>
              <a:buChar char="•"/>
            </a:pPr>
            <a:r>
              <a:rPr lang="en-US" sz="2000"/>
              <a:t>Describe how to change the wavelength and width for the waveguide analysis.</a:t>
            </a:r>
          </a:p>
          <a:p>
            <a:pPr marL="342900" indent="-342900" algn="just">
              <a:buFont typeface="Arial" panose="020B0604020202020204" pitchFamily="34" charset="0"/>
              <a:buChar char="•"/>
            </a:pPr>
            <a:r>
              <a:rPr lang="en-US" sz="2000"/>
              <a:t>Describe the outputs.</a:t>
            </a:r>
          </a:p>
          <a:p>
            <a:pPr marL="0" indent="0" algn="just">
              <a:buNone/>
            </a:pPr>
            <a:r>
              <a:rPr lang="en-US" sz="2000" b="1"/>
              <a:t>ALL EXAMPLE #1: </a:t>
            </a:r>
            <a:r>
              <a:rPr lang="en-US" sz="2000"/>
              <a:t>waveguide width 1.2 µm, deep </a:t>
            </a:r>
            <a:r>
              <a:rPr lang="en-US" sz="2000" err="1"/>
              <a:t>wvg</a:t>
            </a:r>
            <a:r>
              <a:rPr lang="en-US" sz="2000"/>
              <a:t>, wavelength start and end same 1.55 µm </a:t>
            </a:r>
            <a:r>
              <a:rPr lang="en-US" sz="2000">
                <a:sym typeface="Wingdings" pitchFamily="2" charset="2"/>
              </a:rPr>
              <a:t> all ”Run”</a:t>
            </a:r>
            <a:endParaRPr lang="en-US" sz="2000"/>
          </a:p>
          <a:p>
            <a:pPr marL="0" indent="0" algn="just">
              <a:buNone/>
            </a:pPr>
            <a:r>
              <a:rPr lang="en-US" sz="2000" b="1"/>
              <a:t>ALL: </a:t>
            </a:r>
            <a:r>
              <a:rPr lang="en-US" sz="2000"/>
              <a:t>Follow</a:t>
            </a:r>
            <a:r>
              <a:rPr lang="en-US" sz="2000" b="1"/>
              <a:t> </a:t>
            </a:r>
            <a:r>
              <a:rPr lang="en-US" sz="2000"/>
              <a:t>instructor, that will show how to 1) plot mode, 2) explore the results (neff …)</a:t>
            </a:r>
          </a:p>
          <a:p>
            <a:pPr algn="just"/>
            <a:endParaRPr lang="en-US" sz="2000" b="1" i="1"/>
          </a:p>
          <a:p>
            <a:pPr algn="just"/>
            <a:endParaRPr lang="en-US" sz="2000" kern="0">
              <a:solidFill>
                <a:sysClr val="windowText" lastClr="000000"/>
              </a:solidFill>
            </a:endParaRPr>
          </a:p>
        </p:txBody>
      </p:sp>
      <p:sp>
        <p:nvSpPr>
          <p:cNvPr id="2" name="CuadroTexto 1">
            <a:extLst>
              <a:ext uri="{FF2B5EF4-FFF2-40B4-BE49-F238E27FC236}">
                <a16:creationId xmlns:a16="http://schemas.microsoft.com/office/drawing/2014/main" id="{D0F8CF3B-B920-DBFC-F825-0C87B51EADA7}"/>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Document all your results (neff, plot fields of different modes, comparison between different polarizations…)</a:t>
            </a: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3050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858085D-C31C-D640-1204-47D60DBD33C5}"/>
              </a:ext>
            </a:extLst>
          </p:cNvPr>
          <p:cNvSpPr>
            <a:spLocks noGrp="1"/>
          </p:cNvSpPr>
          <p:nvPr>
            <p:ph type="title"/>
          </p:nvPr>
        </p:nvSpPr>
        <p:spPr>
          <a:xfrm>
            <a:off x="590550" y="206752"/>
            <a:ext cx="10991850" cy="1846659"/>
          </a:xfrm>
        </p:spPr>
        <p:txBody>
          <a:bodyPr wrap="square" lIns="0" tIns="0" rIns="0" bIns="0" anchor="t">
            <a:spAutoFit/>
          </a:bodyPr>
          <a:lstStyle/>
          <a:p>
            <a:r>
              <a:rPr lang="es-ES"/>
              <a:t>Resultados ejercicio 1</a:t>
            </a:r>
            <a:br>
              <a:rPr lang="es-ES"/>
            </a:br>
            <a:br>
              <a:rPr lang="es-ES"/>
            </a:br>
            <a:r>
              <a:rPr lang="es-ES" sz="1600" b="0"/>
              <a:t>En las primeras gráficas se pueden visualizar los índices de refracción respecto a la longitud de onda en micrómetros que presentan los distintos materiales con los que vamos a trabajar. Se puede visualizar como en una longitud de onda de 1.50 </a:t>
            </a:r>
            <a:r>
              <a:rPr lang="es-ES" sz="1600" b="0">
                <a:solidFill>
                  <a:srgbClr val="000000"/>
                </a:solidFill>
              </a:rPr>
              <a:t>µm</a:t>
            </a:r>
            <a:r>
              <a:rPr lang="es-ES" sz="1600" b="0"/>
              <a:t> el cristalino de silicio tiene un índice de 3.479, el nitruro de silicio de aproximadamente 2, el dióxido de silicio de 1.46. Lo que quiere decir que las ondas tendrán una mayor velocidad de fase retransmitiéndose en guías de ondas en dióxido de silicio, seguido del nitruro de silicio y por último el cristalino de silicio.</a:t>
            </a:r>
            <a:endParaRPr lang="es-ES" sz="1600" b="0">
              <a:ea typeface="Calibri"/>
            </a:endParaRPr>
          </a:p>
        </p:txBody>
      </p:sp>
      <p:sp>
        <p:nvSpPr>
          <p:cNvPr id="4" name="Marcador de pie de página 3">
            <a:extLst>
              <a:ext uri="{FF2B5EF4-FFF2-40B4-BE49-F238E27FC236}">
                <a16:creationId xmlns:a16="http://schemas.microsoft.com/office/drawing/2014/main" id="{EBF14BC3-391C-1905-786B-5E2311613819}"/>
              </a:ext>
            </a:extLst>
          </p:cNvPr>
          <p:cNvSpPr>
            <a:spLocks noGrp="1"/>
          </p:cNvSpPr>
          <p:nvPr>
            <p:ph type="ftr" sz="quarter" idx="5"/>
          </p:nvPr>
        </p:nvSpPr>
        <p:spPr/>
        <p:txBody>
          <a:bodyPr/>
          <a:lstStyle/>
          <a:p>
            <a:pPr marL="12700">
              <a:spcBef>
                <a:spcPts val="15"/>
              </a:spcBef>
            </a:pPr>
            <a:r>
              <a:rPr lang="es-ES" spc="-5"/>
              <a:t>LAB 1.0 WAVEGUIDES</a:t>
            </a:r>
          </a:p>
        </p:txBody>
      </p:sp>
      <p:sp>
        <p:nvSpPr>
          <p:cNvPr id="5" name="Marcador de número de diapositiva 4">
            <a:extLst>
              <a:ext uri="{FF2B5EF4-FFF2-40B4-BE49-F238E27FC236}">
                <a16:creationId xmlns:a16="http://schemas.microsoft.com/office/drawing/2014/main" id="{AA9ED730-3C2C-7D3D-C7B1-BAFC24AA1056}"/>
              </a:ext>
            </a:extLst>
          </p:cNvPr>
          <p:cNvSpPr>
            <a:spLocks noGrp="1"/>
          </p:cNvSpPr>
          <p:nvPr>
            <p:ph type="sldNum" sz="quarter" idx="7"/>
          </p:nvPr>
        </p:nvSpPr>
        <p:spPr/>
        <p:txBody>
          <a:bodyPr/>
          <a:lstStyle/>
          <a:p>
            <a:fld id="{B6F15528-21DE-4FAA-801E-634DDDAF4B2B}" type="slidenum">
              <a:rPr lang="es-ES" smtClean="0"/>
              <a:t>4</a:t>
            </a:fld>
            <a:endParaRPr lang="es-ES"/>
          </a:p>
        </p:txBody>
      </p:sp>
      <p:pic>
        <p:nvPicPr>
          <p:cNvPr id="7" name="Imagen 6" descr="Gráfico, Gráfico de líneas&#10;&#10;El contenido generado por IA puede ser incorrecto.">
            <a:extLst>
              <a:ext uri="{FF2B5EF4-FFF2-40B4-BE49-F238E27FC236}">
                <a16:creationId xmlns:a16="http://schemas.microsoft.com/office/drawing/2014/main" id="{BF469C13-1583-2DF8-DA15-201A02407268}"/>
              </a:ext>
            </a:extLst>
          </p:cNvPr>
          <p:cNvPicPr>
            <a:picLocks noChangeAspect="1"/>
          </p:cNvPicPr>
          <p:nvPr/>
        </p:nvPicPr>
        <p:blipFill>
          <a:blip r:embed="rId2"/>
          <a:srcRect r="-243"/>
          <a:stretch>
            <a:fillRect/>
          </a:stretch>
        </p:blipFill>
        <p:spPr>
          <a:xfrm>
            <a:off x="511154" y="2297380"/>
            <a:ext cx="3769736" cy="2910119"/>
          </a:xfrm>
          <a:prstGeom prst="rect">
            <a:avLst/>
          </a:prstGeom>
        </p:spPr>
      </p:pic>
      <p:pic>
        <p:nvPicPr>
          <p:cNvPr id="9" name="Imagen 8" descr="Gráfico, Gráfico de líneas&#10;&#10;El contenido generado por IA puede ser incorrecto.">
            <a:extLst>
              <a:ext uri="{FF2B5EF4-FFF2-40B4-BE49-F238E27FC236}">
                <a16:creationId xmlns:a16="http://schemas.microsoft.com/office/drawing/2014/main" id="{EEB89832-E09C-5D28-F10A-8B6FE19CD95D}"/>
              </a:ext>
            </a:extLst>
          </p:cNvPr>
          <p:cNvPicPr>
            <a:picLocks noChangeAspect="1"/>
          </p:cNvPicPr>
          <p:nvPr/>
        </p:nvPicPr>
        <p:blipFill>
          <a:blip r:embed="rId3"/>
          <a:stretch>
            <a:fillRect/>
          </a:stretch>
        </p:blipFill>
        <p:spPr>
          <a:xfrm>
            <a:off x="4327435" y="2305000"/>
            <a:ext cx="3737146" cy="2872019"/>
          </a:xfrm>
          <a:prstGeom prst="rect">
            <a:avLst/>
          </a:prstGeom>
        </p:spPr>
      </p:pic>
      <p:pic>
        <p:nvPicPr>
          <p:cNvPr id="11" name="Imagen 10" descr="Gráfico, Gráfico de líneas&#10;&#10;El contenido generado por IA puede ser incorrecto.">
            <a:extLst>
              <a:ext uri="{FF2B5EF4-FFF2-40B4-BE49-F238E27FC236}">
                <a16:creationId xmlns:a16="http://schemas.microsoft.com/office/drawing/2014/main" id="{38EC6F77-7465-D894-851F-F85420397106}"/>
              </a:ext>
            </a:extLst>
          </p:cNvPr>
          <p:cNvPicPr>
            <a:picLocks noChangeAspect="1"/>
          </p:cNvPicPr>
          <p:nvPr/>
        </p:nvPicPr>
        <p:blipFill>
          <a:blip r:embed="rId4"/>
          <a:stretch>
            <a:fillRect/>
          </a:stretch>
        </p:blipFill>
        <p:spPr>
          <a:xfrm>
            <a:off x="8111126" y="2282366"/>
            <a:ext cx="3793901" cy="2872019"/>
          </a:xfrm>
          <a:prstGeom prst="rect">
            <a:avLst/>
          </a:prstGeom>
        </p:spPr>
      </p:pic>
    </p:spTree>
    <p:extLst>
      <p:ext uri="{BB962C8B-B14F-4D97-AF65-F5344CB8AC3E}">
        <p14:creationId xmlns:p14="http://schemas.microsoft.com/office/powerpoint/2010/main" val="33798545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04DBE45-B5EF-EE6B-66FC-2EFB416D6709}"/>
              </a:ext>
            </a:extLst>
          </p:cNvPr>
          <p:cNvSpPr>
            <a:spLocks noGrp="1"/>
          </p:cNvSpPr>
          <p:nvPr>
            <p:ph type="title"/>
          </p:nvPr>
        </p:nvSpPr>
        <p:spPr/>
        <p:txBody>
          <a:bodyPr/>
          <a:lstStyle/>
          <a:p>
            <a:r>
              <a:rPr lang="es-ES"/>
              <a:t>Resultados ejercicio 1</a:t>
            </a:r>
          </a:p>
        </p:txBody>
      </p:sp>
      <p:sp>
        <p:nvSpPr>
          <p:cNvPr id="3" name="Marcador de texto 2">
            <a:extLst>
              <a:ext uri="{FF2B5EF4-FFF2-40B4-BE49-F238E27FC236}">
                <a16:creationId xmlns:a16="http://schemas.microsoft.com/office/drawing/2014/main" id="{08DB8E36-5F91-3E25-5A4C-C5DB98858197}"/>
              </a:ext>
            </a:extLst>
          </p:cNvPr>
          <p:cNvSpPr>
            <a:spLocks noGrp="1"/>
          </p:cNvSpPr>
          <p:nvPr>
            <p:ph type="body" idx="1"/>
          </p:nvPr>
        </p:nvSpPr>
        <p:spPr>
          <a:xfrm>
            <a:off x="590550" y="789800"/>
            <a:ext cx="10991850" cy="553998"/>
          </a:xfrm>
        </p:spPr>
        <p:txBody>
          <a:bodyPr wrap="square" lIns="0" tIns="0" rIns="0" bIns="0" anchor="t">
            <a:spAutoFit/>
          </a:bodyPr>
          <a:lstStyle/>
          <a:p>
            <a:r>
              <a:rPr lang="es-ES"/>
              <a:t>En la imagen se puede visualizar el área de la guía de onda con respecto a su índice efectivo, se puede ver cómo es una guía onda tipo </a:t>
            </a:r>
            <a:r>
              <a:rPr lang="es-ES" err="1"/>
              <a:t>deep</a:t>
            </a:r>
            <a:r>
              <a:rPr lang="es-ES"/>
              <a:t> ya que no tiene </a:t>
            </a:r>
            <a:r>
              <a:rPr lang="es-ES" err="1"/>
              <a:t>slab</a:t>
            </a:r>
            <a:r>
              <a:rPr lang="es-ES"/>
              <a:t>.</a:t>
            </a:r>
            <a:endParaRPr lang="es-ES" err="1">
              <a:solidFill>
                <a:srgbClr val="000000"/>
              </a:solidFill>
              <a:latin typeface="Calibri"/>
              <a:ea typeface="Calibri"/>
              <a:cs typeface="Calibri"/>
            </a:endParaRPr>
          </a:p>
        </p:txBody>
      </p:sp>
      <p:sp>
        <p:nvSpPr>
          <p:cNvPr id="4" name="Marcador de pie de página 3">
            <a:extLst>
              <a:ext uri="{FF2B5EF4-FFF2-40B4-BE49-F238E27FC236}">
                <a16:creationId xmlns:a16="http://schemas.microsoft.com/office/drawing/2014/main" id="{B636B38E-FF46-CF57-F2BA-3E3A419871A9}"/>
              </a:ext>
            </a:extLst>
          </p:cNvPr>
          <p:cNvSpPr>
            <a:spLocks noGrp="1"/>
          </p:cNvSpPr>
          <p:nvPr>
            <p:ph type="ftr" sz="quarter" idx="5"/>
          </p:nvPr>
        </p:nvSpPr>
        <p:spPr/>
        <p:txBody>
          <a:bodyPr/>
          <a:lstStyle/>
          <a:p>
            <a:pPr marL="12700">
              <a:spcBef>
                <a:spcPts val="15"/>
              </a:spcBef>
            </a:pPr>
            <a:r>
              <a:rPr lang="es-ES" spc="-5"/>
              <a:t>LAB 1.0 WAVEGUIDES</a:t>
            </a:r>
          </a:p>
        </p:txBody>
      </p:sp>
      <p:sp>
        <p:nvSpPr>
          <p:cNvPr id="5" name="Marcador de número de diapositiva 4">
            <a:extLst>
              <a:ext uri="{FF2B5EF4-FFF2-40B4-BE49-F238E27FC236}">
                <a16:creationId xmlns:a16="http://schemas.microsoft.com/office/drawing/2014/main" id="{8316C9D6-5D1A-1884-5828-43DC609B438F}"/>
              </a:ext>
            </a:extLst>
          </p:cNvPr>
          <p:cNvSpPr>
            <a:spLocks noGrp="1"/>
          </p:cNvSpPr>
          <p:nvPr>
            <p:ph type="sldNum" sz="quarter" idx="7"/>
          </p:nvPr>
        </p:nvSpPr>
        <p:spPr/>
        <p:txBody>
          <a:bodyPr/>
          <a:lstStyle/>
          <a:p>
            <a:fld id="{B6F15528-21DE-4FAA-801E-634DDDAF4B2B}" type="slidenum">
              <a:rPr lang="es-ES" smtClean="0"/>
              <a:t>5</a:t>
            </a:fld>
            <a:endParaRPr lang="es-ES"/>
          </a:p>
        </p:txBody>
      </p:sp>
      <p:pic>
        <p:nvPicPr>
          <p:cNvPr id="7" name="Imagen 6" descr="Gráfico&#10;&#10;El contenido generado por IA puede ser incorrecto.">
            <a:extLst>
              <a:ext uri="{FF2B5EF4-FFF2-40B4-BE49-F238E27FC236}">
                <a16:creationId xmlns:a16="http://schemas.microsoft.com/office/drawing/2014/main" id="{0E3815AC-E6EE-E5AD-1AF8-60BC61952FD6}"/>
              </a:ext>
            </a:extLst>
          </p:cNvPr>
          <p:cNvPicPr>
            <a:picLocks noChangeAspect="1"/>
          </p:cNvPicPr>
          <p:nvPr/>
        </p:nvPicPr>
        <p:blipFill>
          <a:blip r:embed="rId2"/>
          <a:srcRect l="1687" t="1680" r="1666" b="2861"/>
          <a:stretch>
            <a:fillRect/>
          </a:stretch>
        </p:blipFill>
        <p:spPr>
          <a:xfrm>
            <a:off x="3935896" y="2447235"/>
            <a:ext cx="4110383" cy="3056835"/>
          </a:xfrm>
          <a:prstGeom prst="rect">
            <a:avLst/>
          </a:prstGeom>
        </p:spPr>
      </p:pic>
    </p:spTree>
    <p:extLst>
      <p:ext uri="{BB962C8B-B14F-4D97-AF65-F5344CB8AC3E}">
        <p14:creationId xmlns:p14="http://schemas.microsoft.com/office/powerpoint/2010/main" val="7299522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E20E5F-441E-7588-D170-5631045B2B8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BEA09E6-E19C-E427-3B24-F783236AA299}"/>
              </a:ext>
            </a:extLst>
          </p:cNvPr>
          <p:cNvSpPr>
            <a:spLocks noGrp="1"/>
          </p:cNvSpPr>
          <p:nvPr>
            <p:ph type="title"/>
          </p:nvPr>
        </p:nvSpPr>
        <p:spPr/>
        <p:txBody>
          <a:bodyPr/>
          <a:lstStyle/>
          <a:p>
            <a:r>
              <a:rPr lang="es-ES"/>
              <a:t>Resultados ejercicio 1</a:t>
            </a:r>
          </a:p>
        </p:txBody>
      </p:sp>
      <p:sp>
        <p:nvSpPr>
          <p:cNvPr id="3" name="Marcador de texto 2">
            <a:extLst>
              <a:ext uri="{FF2B5EF4-FFF2-40B4-BE49-F238E27FC236}">
                <a16:creationId xmlns:a16="http://schemas.microsoft.com/office/drawing/2014/main" id="{4E140B4E-91EF-86C7-23A9-1C5D4B788DAA}"/>
              </a:ext>
            </a:extLst>
          </p:cNvPr>
          <p:cNvSpPr>
            <a:spLocks noGrp="1"/>
          </p:cNvSpPr>
          <p:nvPr>
            <p:ph type="body" idx="1"/>
          </p:nvPr>
        </p:nvSpPr>
        <p:spPr>
          <a:xfrm>
            <a:off x="590550" y="789800"/>
            <a:ext cx="10991850" cy="4985980"/>
          </a:xfrm>
        </p:spPr>
        <p:txBody>
          <a:bodyPr wrap="square" lIns="0" tIns="0" rIns="0" bIns="0" anchor="t">
            <a:spAutoFit/>
          </a:bodyPr>
          <a:lstStyle/>
          <a:p>
            <a:r>
              <a:rPr lang="es-ES"/>
              <a:t>Resultados: </a:t>
            </a:r>
          </a:p>
          <a:p>
            <a:r>
              <a:rPr lang="es-ES"/>
              <a:t>Índices </a:t>
            </a:r>
            <a:r>
              <a:rPr lang="en-US"/>
              <a:t>array([1.60524792+0.00010066j, 1.52829803+0.00017753j, 1.45072999+0.00019228j, 1.43325817+0.00021838j])</a:t>
            </a:r>
          </a:p>
          <a:p>
            <a:r>
              <a:rPr lang="en-US"/>
              <a:t>Indices de TE array([0.99505426, 0.01004259, 0.96264794, 0.047651 ])</a:t>
            </a:r>
          </a:p>
          <a:p>
            <a:r>
              <a:rPr lang="en-US"/>
              <a:t>Indices de TM array([0.00494574, 0.98995741, 0.03735206, 0.952349 ])</a:t>
            </a:r>
            <a:endParaRPr lang="es-ES"/>
          </a:p>
          <a:p>
            <a:endParaRPr lang="en-US"/>
          </a:p>
          <a:p>
            <a:r>
              <a:rPr lang="es-ES"/>
              <a:t>En el primer array se pueden observar los índices efectivos en la parte real y la absorción en la parte imaginaria de cada número, se puede visualizar como los dos primeros modos son los que tienen mayor índice efectivo y menor absorción y por lo tanto son los que se van a transmitir correctamente, mientras que los otros dos tienen índices efectivos más pequeños y mayores Índices de absorción por lo tanto van a ser mitigados y no van a ser transmitidos dentro de la guía de ondas.</a:t>
            </a:r>
          </a:p>
          <a:p>
            <a:endParaRPr lang="es-ES"/>
          </a:p>
          <a:p>
            <a:r>
              <a:rPr lang="es-ES"/>
              <a:t>En los siguientes </a:t>
            </a:r>
            <a:r>
              <a:rPr lang="es-ES" err="1"/>
              <a:t>arrays</a:t>
            </a:r>
            <a:r>
              <a:rPr lang="es-ES"/>
              <a:t> se visualizan los Índices transversal </a:t>
            </a:r>
            <a:r>
              <a:rPr lang="es-ES" err="1"/>
              <a:t>electricos</a:t>
            </a:r>
            <a:r>
              <a:rPr lang="es-ES"/>
              <a:t> y </a:t>
            </a:r>
            <a:r>
              <a:rPr lang="es-ES" err="1"/>
              <a:t>magneticos</a:t>
            </a:r>
            <a:r>
              <a:rPr lang="es-ES"/>
              <a:t>, se puede visualizar como el primer modo se transmite en el eje x ya que tiene mayor valor de TE, el segundo se transmite en el eje y ya que tiene mayor valor TM, el tercero se transmite en el eje x ya que tiene mayor valor de TE y por último el último modo se transmite en el eje y ya que tiene mayor valor de TM.</a:t>
            </a:r>
          </a:p>
          <a:p>
            <a:endParaRPr lang="es-ES"/>
          </a:p>
          <a:p>
            <a:endParaRPr lang="en-US"/>
          </a:p>
        </p:txBody>
      </p:sp>
      <p:sp>
        <p:nvSpPr>
          <p:cNvPr id="4" name="Marcador de pie de página 3">
            <a:extLst>
              <a:ext uri="{FF2B5EF4-FFF2-40B4-BE49-F238E27FC236}">
                <a16:creationId xmlns:a16="http://schemas.microsoft.com/office/drawing/2014/main" id="{3C83B440-2DEC-A690-1A24-7006AD6C789B}"/>
              </a:ext>
            </a:extLst>
          </p:cNvPr>
          <p:cNvSpPr>
            <a:spLocks noGrp="1"/>
          </p:cNvSpPr>
          <p:nvPr>
            <p:ph type="ftr" sz="quarter" idx="5"/>
          </p:nvPr>
        </p:nvSpPr>
        <p:spPr/>
        <p:txBody>
          <a:bodyPr/>
          <a:lstStyle/>
          <a:p>
            <a:pPr marL="12700">
              <a:spcBef>
                <a:spcPts val="15"/>
              </a:spcBef>
            </a:pPr>
            <a:r>
              <a:rPr lang="es-ES" spc="-5"/>
              <a:t>LAB 1.0 WAVEGUIDES</a:t>
            </a:r>
          </a:p>
        </p:txBody>
      </p:sp>
      <p:sp>
        <p:nvSpPr>
          <p:cNvPr id="5" name="Marcador de número de diapositiva 4">
            <a:extLst>
              <a:ext uri="{FF2B5EF4-FFF2-40B4-BE49-F238E27FC236}">
                <a16:creationId xmlns:a16="http://schemas.microsoft.com/office/drawing/2014/main" id="{16504407-741E-C5F7-2E22-F1F4FF99A88B}"/>
              </a:ext>
            </a:extLst>
          </p:cNvPr>
          <p:cNvSpPr>
            <a:spLocks noGrp="1"/>
          </p:cNvSpPr>
          <p:nvPr>
            <p:ph type="sldNum" sz="quarter" idx="7"/>
          </p:nvPr>
        </p:nvSpPr>
        <p:spPr/>
        <p:txBody>
          <a:bodyPr/>
          <a:lstStyle/>
          <a:p>
            <a:fld id="{B6F15528-21DE-4FAA-801E-634DDDAF4B2B}" type="slidenum">
              <a:rPr lang="es-ES" smtClean="0"/>
              <a:t>6</a:t>
            </a:fld>
            <a:endParaRPr lang="es-ES"/>
          </a:p>
        </p:txBody>
      </p:sp>
    </p:spTree>
    <p:extLst>
      <p:ext uri="{BB962C8B-B14F-4D97-AF65-F5344CB8AC3E}">
        <p14:creationId xmlns:p14="http://schemas.microsoft.com/office/powerpoint/2010/main" val="29010737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7B309-1781-9F20-C6FB-401158C54C9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A782B17-1EBF-385A-729E-52FFC671096D}"/>
              </a:ext>
            </a:extLst>
          </p:cNvPr>
          <p:cNvSpPr>
            <a:spLocks noGrp="1"/>
          </p:cNvSpPr>
          <p:nvPr>
            <p:ph type="title"/>
          </p:nvPr>
        </p:nvSpPr>
        <p:spPr/>
        <p:txBody>
          <a:bodyPr/>
          <a:lstStyle/>
          <a:p>
            <a:r>
              <a:rPr lang="es-ES"/>
              <a:t>Resultados ejercicio 1</a:t>
            </a:r>
          </a:p>
        </p:txBody>
      </p:sp>
      <p:sp>
        <p:nvSpPr>
          <p:cNvPr id="3" name="Marcador de texto 2">
            <a:extLst>
              <a:ext uri="{FF2B5EF4-FFF2-40B4-BE49-F238E27FC236}">
                <a16:creationId xmlns:a16="http://schemas.microsoft.com/office/drawing/2014/main" id="{F6BF3600-972C-84F1-6EB0-0949666F6967}"/>
              </a:ext>
            </a:extLst>
          </p:cNvPr>
          <p:cNvSpPr>
            <a:spLocks noGrp="1"/>
          </p:cNvSpPr>
          <p:nvPr>
            <p:ph type="body" idx="1"/>
          </p:nvPr>
        </p:nvSpPr>
        <p:spPr>
          <a:xfrm>
            <a:off x="590550" y="789800"/>
            <a:ext cx="10991850" cy="3877985"/>
          </a:xfrm>
        </p:spPr>
        <p:txBody>
          <a:bodyPr wrap="square" lIns="0" tIns="0" rIns="0" bIns="0" anchor="t">
            <a:spAutoFit/>
          </a:bodyPr>
          <a:lstStyle/>
          <a:p>
            <a:pPr algn="l"/>
            <a:r>
              <a:rPr lang="es-ES"/>
              <a:t>Resultados: </a:t>
            </a:r>
            <a:r>
              <a:rPr lang="es-ES">
                <a:ea typeface="+mn-lt"/>
                <a:cs typeface="+mn-lt"/>
              </a:rPr>
              <a:t>Las gráficas obtenidas representan la transmisión de los distintos modos en la guía de ondas. En la primera gráfica se puede visualizar cómo la onda se retransmite en el eje x y cómo toda la energía queda contenida dentro de la guía, cumpliéndose así con los datos comentados en la diapositiva anterior.</a:t>
            </a:r>
            <a:endParaRPr lang="es-ES">
              <a:solidFill>
                <a:srgbClr val="000000"/>
              </a:solidFill>
              <a:latin typeface="Calibri"/>
              <a:ea typeface="Calibri"/>
              <a:cs typeface="Calibri"/>
            </a:endParaRPr>
          </a:p>
          <a:p>
            <a:pPr algn="l"/>
            <a:r>
              <a:rPr lang="es-ES">
                <a:ea typeface="+mn-lt"/>
                <a:cs typeface="+mn-lt"/>
              </a:rPr>
              <a:t>En la siguiente gráfica se observa cómo la onda se transmite en el eje y, y se puede ver que parte de la energía se disipa fuera de la guía.</a:t>
            </a:r>
            <a:endParaRPr lang="es-ES"/>
          </a:p>
          <a:p>
            <a:pPr algn="l"/>
            <a:r>
              <a:rPr lang="es-ES">
                <a:ea typeface="+mn-lt"/>
                <a:cs typeface="+mn-lt"/>
              </a:rPr>
              <a:t>En la tercera gráfica se aprecia que la mayor parte de la energía se disipa fuera de la guía y que la energía se divide en dos: una parte se transmite en la dirección de la señal original y la otra en la dirección contraria, propagándose en el eje x.</a:t>
            </a:r>
            <a:endParaRPr lang="es-ES"/>
          </a:p>
          <a:p>
            <a:pPr algn="l"/>
            <a:r>
              <a:rPr lang="es-ES">
                <a:ea typeface="+mn-lt"/>
                <a:cs typeface="+mn-lt"/>
              </a:rPr>
              <a:t>Finalmente, en la última gráfica se observa cómo toda la energía se disipa fuera de la guía y vuelve a dividirse en dos, ocurriendo algo similar al caso anterior: una parte de la energía se transmite hacia un lado y la otra hacia el lado contrario, propagándose en el eje y.</a:t>
            </a:r>
          </a:p>
          <a:p>
            <a:endParaRPr lang="es-ES">
              <a:solidFill>
                <a:srgbClr val="000000"/>
              </a:solidFill>
              <a:latin typeface="Calibri"/>
              <a:ea typeface="Calibri"/>
              <a:cs typeface="Calibri"/>
            </a:endParaRPr>
          </a:p>
          <a:p>
            <a:endParaRPr lang="es-ES"/>
          </a:p>
          <a:p>
            <a:endParaRPr lang="en-US"/>
          </a:p>
        </p:txBody>
      </p:sp>
      <p:sp>
        <p:nvSpPr>
          <p:cNvPr id="4" name="Marcador de pie de página 3">
            <a:extLst>
              <a:ext uri="{FF2B5EF4-FFF2-40B4-BE49-F238E27FC236}">
                <a16:creationId xmlns:a16="http://schemas.microsoft.com/office/drawing/2014/main" id="{7FD043B6-395D-A38E-11D8-7367E25FA63D}"/>
              </a:ext>
            </a:extLst>
          </p:cNvPr>
          <p:cNvSpPr>
            <a:spLocks noGrp="1"/>
          </p:cNvSpPr>
          <p:nvPr>
            <p:ph type="ftr" sz="quarter" idx="5"/>
          </p:nvPr>
        </p:nvSpPr>
        <p:spPr/>
        <p:txBody>
          <a:bodyPr/>
          <a:lstStyle/>
          <a:p>
            <a:pPr marL="12700">
              <a:spcBef>
                <a:spcPts val="15"/>
              </a:spcBef>
            </a:pPr>
            <a:r>
              <a:rPr lang="es-ES" spc="-5"/>
              <a:t>LAB 1.0 WAVEGUIDES</a:t>
            </a:r>
          </a:p>
        </p:txBody>
      </p:sp>
      <p:sp>
        <p:nvSpPr>
          <p:cNvPr id="5" name="Marcador de número de diapositiva 4">
            <a:extLst>
              <a:ext uri="{FF2B5EF4-FFF2-40B4-BE49-F238E27FC236}">
                <a16:creationId xmlns:a16="http://schemas.microsoft.com/office/drawing/2014/main" id="{288DDA4D-45B6-EC65-24CB-E010BCA0AE2A}"/>
              </a:ext>
            </a:extLst>
          </p:cNvPr>
          <p:cNvSpPr>
            <a:spLocks noGrp="1"/>
          </p:cNvSpPr>
          <p:nvPr>
            <p:ph type="sldNum" sz="quarter" idx="7"/>
          </p:nvPr>
        </p:nvSpPr>
        <p:spPr/>
        <p:txBody>
          <a:bodyPr/>
          <a:lstStyle/>
          <a:p>
            <a:fld id="{B6F15528-21DE-4FAA-801E-634DDDAF4B2B}" type="slidenum">
              <a:rPr lang="es-ES" smtClean="0"/>
              <a:t>7</a:t>
            </a:fld>
            <a:endParaRPr lang="es-ES"/>
          </a:p>
        </p:txBody>
      </p:sp>
      <p:pic>
        <p:nvPicPr>
          <p:cNvPr id="6" name="Imagen 5" descr="Gráfico, Histograma&#10;&#10;El contenido generado por IA puede ser incorrecto.">
            <a:extLst>
              <a:ext uri="{FF2B5EF4-FFF2-40B4-BE49-F238E27FC236}">
                <a16:creationId xmlns:a16="http://schemas.microsoft.com/office/drawing/2014/main" id="{C486A687-BCFE-E2F4-A8CB-015F0F4402F7}"/>
              </a:ext>
            </a:extLst>
          </p:cNvPr>
          <p:cNvPicPr>
            <a:picLocks noChangeAspect="1"/>
          </p:cNvPicPr>
          <p:nvPr/>
        </p:nvPicPr>
        <p:blipFill>
          <a:blip r:embed="rId2"/>
          <a:srcRect l="1239" t="60" r="-570" b="1299"/>
          <a:stretch>
            <a:fillRect/>
          </a:stretch>
        </p:blipFill>
        <p:spPr>
          <a:xfrm>
            <a:off x="299086" y="4233485"/>
            <a:ext cx="2747485" cy="1820591"/>
          </a:xfrm>
          <a:prstGeom prst="rect">
            <a:avLst/>
          </a:prstGeom>
        </p:spPr>
      </p:pic>
      <p:pic>
        <p:nvPicPr>
          <p:cNvPr id="7" name="Imagen 6" descr="Gráfico&#10;&#10;El contenido generado por IA puede ser incorrecto.">
            <a:extLst>
              <a:ext uri="{FF2B5EF4-FFF2-40B4-BE49-F238E27FC236}">
                <a16:creationId xmlns:a16="http://schemas.microsoft.com/office/drawing/2014/main" id="{95C40D93-A57B-FBB3-91EB-E7BC51744E5D}"/>
              </a:ext>
            </a:extLst>
          </p:cNvPr>
          <p:cNvPicPr>
            <a:picLocks noChangeAspect="1"/>
          </p:cNvPicPr>
          <p:nvPr/>
        </p:nvPicPr>
        <p:blipFill>
          <a:blip r:embed="rId3"/>
          <a:stretch>
            <a:fillRect/>
          </a:stretch>
        </p:blipFill>
        <p:spPr>
          <a:xfrm>
            <a:off x="2946628" y="4198484"/>
            <a:ext cx="3152774" cy="1922690"/>
          </a:xfrm>
          <a:prstGeom prst="rect">
            <a:avLst/>
          </a:prstGeom>
        </p:spPr>
      </p:pic>
      <p:pic>
        <p:nvPicPr>
          <p:cNvPr id="8" name="Imagen 7" descr="Gráfico&#10;&#10;El contenido generado por IA puede ser incorrecto.">
            <a:extLst>
              <a:ext uri="{FF2B5EF4-FFF2-40B4-BE49-F238E27FC236}">
                <a16:creationId xmlns:a16="http://schemas.microsoft.com/office/drawing/2014/main" id="{EA3A76AB-7368-2455-9381-BD4601C89FB4}"/>
              </a:ext>
            </a:extLst>
          </p:cNvPr>
          <p:cNvPicPr>
            <a:picLocks noChangeAspect="1"/>
          </p:cNvPicPr>
          <p:nvPr/>
        </p:nvPicPr>
        <p:blipFill>
          <a:blip r:embed="rId4"/>
          <a:stretch>
            <a:fillRect/>
          </a:stretch>
        </p:blipFill>
        <p:spPr>
          <a:xfrm>
            <a:off x="6091239" y="4192362"/>
            <a:ext cx="2850698" cy="1924051"/>
          </a:xfrm>
          <a:prstGeom prst="rect">
            <a:avLst/>
          </a:prstGeom>
        </p:spPr>
      </p:pic>
      <p:pic>
        <p:nvPicPr>
          <p:cNvPr id="9" name="Imagen 8" descr="Gráfico, Histograma&#10;&#10;El contenido generado por IA puede ser incorrecto.">
            <a:extLst>
              <a:ext uri="{FF2B5EF4-FFF2-40B4-BE49-F238E27FC236}">
                <a16:creationId xmlns:a16="http://schemas.microsoft.com/office/drawing/2014/main" id="{0D132C4A-E9B3-8275-7063-CC4BBCD33957}"/>
              </a:ext>
            </a:extLst>
          </p:cNvPr>
          <p:cNvPicPr>
            <a:picLocks noChangeAspect="1"/>
          </p:cNvPicPr>
          <p:nvPr/>
        </p:nvPicPr>
        <p:blipFill>
          <a:blip r:embed="rId5"/>
          <a:stretch>
            <a:fillRect/>
          </a:stretch>
        </p:blipFill>
        <p:spPr>
          <a:xfrm>
            <a:off x="9046029" y="4184196"/>
            <a:ext cx="2960915" cy="1918608"/>
          </a:xfrm>
          <a:prstGeom prst="rect">
            <a:avLst/>
          </a:prstGeom>
        </p:spPr>
      </p:pic>
    </p:spTree>
    <p:extLst>
      <p:ext uri="{BB962C8B-B14F-4D97-AF65-F5344CB8AC3E}">
        <p14:creationId xmlns:p14="http://schemas.microsoft.com/office/powerpoint/2010/main" val="6585157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#2 – Wavelength behavior</a:t>
            </a:r>
            <a:br>
              <a:rPr lang="es-ES" sz="2500" spc="-5">
                <a:latin typeface="+mj-lt"/>
                <a:cs typeface="Lucida Sans"/>
              </a:rPr>
            </a:br>
            <a:r>
              <a:rPr lang="en-US" b="0"/>
              <a:t>Wavelength 1.5-1.6 µm (step 0.01 µm) – width 1.2 µm</a:t>
            </a:r>
            <a:endParaRPr sz="2500" b="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8</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1.0 WAVEGUIDES</a:t>
            </a:r>
          </a:p>
        </p:txBody>
      </p:sp>
      <p:sp>
        <p:nvSpPr>
          <p:cNvPr id="2" name="CuadroTexto 1">
            <a:extLst>
              <a:ext uri="{FF2B5EF4-FFF2-40B4-BE49-F238E27FC236}">
                <a16:creationId xmlns:a16="http://schemas.microsoft.com/office/drawing/2014/main" id="{CA5F0FDF-2A95-453B-4ECA-AEB637FF2694}"/>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Comment results (neff changes this way with wavelength, comparison between different waveguide cross-sections …</a:t>
            </a:r>
            <a:r>
              <a:rPr lang="en-US" sz="1200" err="1">
                <a:latin typeface="Arial" panose="020B0604020202020204" pitchFamily="34" charset="0"/>
                <a:cs typeface="Arial" panose="020B0604020202020204" pitchFamily="34" charset="0"/>
              </a:rPr>
              <a:t>etc</a:t>
            </a:r>
            <a:r>
              <a:rPr lang="en-US" sz="1200">
                <a:latin typeface="Arial" panose="020B0604020202020204" pitchFamily="34" charset="0"/>
                <a:cs typeface="Arial" panose="020B0604020202020204" pitchFamily="34" charset="0"/>
              </a:rPr>
              <a:t>)</a:t>
            </a: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p:txBody>
      </p:sp>
      <p:sp>
        <p:nvSpPr>
          <p:cNvPr id="5" name="Rectángulo 4">
            <a:extLst>
              <a:ext uri="{FF2B5EF4-FFF2-40B4-BE49-F238E27FC236}">
                <a16:creationId xmlns:a16="http://schemas.microsoft.com/office/drawing/2014/main" id="{88F19863-7091-B8CA-F848-DBEA5CEEA027}"/>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a:extLst>
              <a:ext uri="{FF2B5EF4-FFF2-40B4-BE49-F238E27FC236}">
                <a16:creationId xmlns:a16="http://schemas.microsoft.com/office/drawing/2014/main" id="{3C4E7A47-20E2-3C27-D841-5A665642F6E2}"/>
              </a:ext>
            </a:extLst>
          </p:cNvPr>
          <p:cNvSpPr txBox="1"/>
          <p:nvPr/>
        </p:nvSpPr>
        <p:spPr>
          <a:xfrm>
            <a:off x="2285455" y="2671278"/>
            <a:ext cx="1980542" cy="923330"/>
          </a:xfrm>
          <a:prstGeom prst="rect">
            <a:avLst/>
          </a:prstGeom>
          <a:noFill/>
        </p:spPr>
        <p:txBody>
          <a:bodyPr wrap="none" rtlCol="0">
            <a:spAutoFit/>
          </a:bodyPr>
          <a:lstStyle/>
          <a:p>
            <a:pPr algn="ctr"/>
            <a:r>
              <a:rPr lang="en-US" b="1"/>
              <a:t>shallow</a:t>
            </a:r>
            <a:r>
              <a:rPr lang="en-US"/>
              <a:t> waveguide</a:t>
            </a:r>
          </a:p>
          <a:p>
            <a:pPr algn="ctr"/>
            <a:endParaRPr lang="en-US"/>
          </a:p>
          <a:p>
            <a:pPr algn="ctr"/>
            <a:r>
              <a:rPr lang="en-US"/>
              <a:t>Paste plot here</a:t>
            </a:r>
          </a:p>
        </p:txBody>
      </p:sp>
      <p:sp>
        <p:nvSpPr>
          <p:cNvPr id="7" name="Rectángulo 6">
            <a:extLst>
              <a:ext uri="{FF2B5EF4-FFF2-40B4-BE49-F238E27FC236}">
                <a16:creationId xmlns:a16="http://schemas.microsoft.com/office/drawing/2014/main" id="{21F754A5-65BC-14A3-5F55-75716FFA9027}"/>
              </a:ext>
            </a:extLst>
          </p:cNvPr>
          <p:cNvSpPr/>
          <p:nvPr/>
        </p:nvSpPr>
        <p:spPr>
          <a:xfrm>
            <a:off x="64768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CD9C65D4-5494-F5CE-1094-CB0A32C33876}"/>
              </a:ext>
            </a:extLst>
          </p:cNvPr>
          <p:cNvSpPr txBox="1"/>
          <p:nvPr/>
        </p:nvSpPr>
        <p:spPr>
          <a:xfrm>
            <a:off x="8281672" y="2671278"/>
            <a:ext cx="1722908" cy="923330"/>
          </a:xfrm>
          <a:prstGeom prst="rect">
            <a:avLst/>
          </a:prstGeom>
          <a:noFill/>
        </p:spPr>
        <p:txBody>
          <a:bodyPr wrap="none" rtlCol="0">
            <a:spAutoFit/>
          </a:bodyPr>
          <a:lstStyle/>
          <a:p>
            <a:pPr algn="ctr"/>
            <a:r>
              <a:rPr lang="en-US" b="1"/>
              <a:t>deep</a:t>
            </a:r>
            <a:r>
              <a:rPr lang="en-US"/>
              <a:t> waveguide</a:t>
            </a:r>
          </a:p>
          <a:p>
            <a:pPr algn="ctr"/>
            <a:endParaRPr lang="en-US"/>
          </a:p>
          <a:p>
            <a:pPr algn="ctr"/>
            <a:r>
              <a:rPr lang="en-US"/>
              <a:t>Paste plot here</a:t>
            </a:r>
          </a:p>
        </p:txBody>
      </p:sp>
      <p:sp>
        <p:nvSpPr>
          <p:cNvPr id="9" name="CuadroTexto 8">
            <a:extLst>
              <a:ext uri="{FF2B5EF4-FFF2-40B4-BE49-F238E27FC236}">
                <a16:creationId xmlns:a16="http://schemas.microsoft.com/office/drawing/2014/main" id="{8BD4C233-B5D9-B6AA-93A8-CF2F130CFF9C}"/>
              </a:ext>
            </a:extLst>
          </p:cNvPr>
          <p:cNvSpPr txBox="1"/>
          <p:nvPr/>
        </p:nvSpPr>
        <p:spPr>
          <a:xfrm>
            <a:off x="642989" y="4402885"/>
            <a:ext cx="2269787" cy="369332"/>
          </a:xfrm>
          <a:prstGeom prst="rect">
            <a:avLst/>
          </a:prstGeom>
          <a:noFill/>
        </p:spPr>
        <p:txBody>
          <a:bodyPr wrap="square">
            <a:spAutoFit/>
          </a:bodyPr>
          <a:lstStyle/>
          <a:p>
            <a:r>
              <a:rPr lang="en-US"/>
              <a:t>slab = 150nm</a:t>
            </a:r>
            <a:endParaRPr lang="es-ES"/>
          </a:p>
        </p:txBody>
      </p:sp>
    </p:spTree>
    <p:extLst>
      <p:ext uri="{BB962C8B-B14F-4D97-AF65-F5344CB8AC3E}">
        <p14:creationId xmlns:p14="http://schemas.microsoft.com/office/powerpoint/2010/main" val="37123560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FF751-89A2-AF00-F3EF-FAABC03EBDA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4004303-EC82-2A4D-F68C-31BBAF8FD0D1}"/>
              </a:ext>
            </a:extLst>
          </p:cNvPr>
          <p:cNvSpPr>
            <a:spLocks noGrp="1"/>
          </p:cNvSpPr>
          <p:nvPr>
            <p:ph type="title"/>
          </p:nvPr>
        </p:nvSpPr>
        <p:spPr/>
        <p:txBody>
          <a:bodyPr wrap="square" lIns="0" tIns="0" rIns="0" bIns="0" anchor="t">
            <a:spAutoFit/>
          </a:bodyPr>
          <a:lstStyle/>
          <a:p>
            <a:r>
              <a:rPr lang="es-ES"/>
              <a:t>Resultados ejercicio 2</a:t>
            </a:r>
          </a:p>
        </p:txBody>
      </p:sp>
      <p:sp>
        <p:nvSpPr>
          <p:cNvPr id="3" name="Marcador de texto 2">
            <a:extLst>
              <a:ext uri="{FF2B5EF4-FFF2-40B4-BE49-F238E27FC236}">
                <a16:creationId xmlns:a16="http://schemas.microsoft.com/office/drawing/2014/main" id="{94243C92-6D23-3BE8-6763-45D71ACCEB7E}"/>
              </a:ext>
            </a:extLst>
          </p:cNvPr>
          <p:cNvSpPr>
            <a:spLocks noGrp="1"/>
          </p:cNvSpPr>
          <p:nvPr>
            <p:ph type="body" idx="1"/>
          </p:nvPr>
        </p:nvSpPr>
        <p:spPr>
          <a:xfrm>
            <a:off x="601593" y="789800"/>
            <a:ext cx="11367328" cy="2554545"/>
          </a:xfrm>
        </p:spPr>
        <p:txBody>
          <a:bodyPr wrap="square" lIns="0" tIns="0" rIns="0" bIns="0" anchor="t">
            <a:spAutoFit/>
          </a:bodyPr>
          <a:lstStyle/>
          <a:p>
            <a:pPr algn="l"/>
            <a:r>
              <a:rPr lang="es-ES" sz="1600">
                <a:solidFill>
                  <a:srgbClr val="000000"/>
                </a:solidFill>
                <a:ea typeface="+mn-lt"/>
                <a:cs typeface="+mn-lt"/>
              </a:rPr>
              <a:t>En las siguientes gráficas se muestran los índices efectivos de los cuatro modos propagados en función de la longitud de onda. Se observa que, a medida que disminuye la longitud de onda, el índice efectivo aumenta. Esto ocurre porque, al aumentar la longitud de onda, el campo electromagnético se vuelve relativamente más grande respecto al tamaño de la guía de ondas y tiende a extenderse hacia el </a:t>
            </a:r>
            <a:r>
              <a:rPr lang="es-ES" sz="1600" err="1">
                <a:solidFill>
                  <a:srgbClr val="000000"/>
                </a:solidFill>
                <a:ea typeface="+mn-lt"/>
                <a:cs typeface="+mn-lt"/>
              </a:rPr>
              <a:t>cladding</a:t>
            </a:r>
            <a:r>
              <a:rPr lang="es-ES" sz="1600">
                <a:solidFill>
                  <a:srgbClr val="000000"/>
                </a:solidFill>
                <a:ea typeface="+mn-lt"/>
                <a:cs typeface="+mn-lt"/>
              </a:rPr>
              <a:t>, reduciendo el confinamiento en el núcleo y, por tanto, el índice efectivo.</a:t>
            </a:r>
            <a:endParaRPr lang="es-ES" sz="1600"/>
          </a:p>
          <a:p>
            <a:pPr algn="l"/>
            <a:r>
              <a:rPr lang="es-ES" sz="1600">
                <a:solidFill>
                  <a:srgbClr val="000000"/>
                </a:solidFill>
                <a:ea typeface="+mn-lt"/>
                <a:cs typeface="+mn-lt"/>
              </a:rPr>
              <a:t>Por otro lado, también se puede observar que la guía </a:t>
            </a:r>
            <a:r>
              <a:rPr lang="es-ES" sz="1600" i="1" err="1">
                <a:solidFill>
                  <a:srgbClr val="000000"/>
                </a:solidFill>
                <a:ea typeface="+mn-lt"/>
                <a:cs typeface="+mn-lt"/>
              </a:rPr>
              <a:t>shallow-etched</a:t>
            </a:r>
            <a:r>
              <a:rPr lang="es-ES" sz="1600">
                <a:solidFill>
                  <a:srgbClr val="000000"/>
                </a:solidFill>
                <a:ea typeface="+mn-lt"/>
                <a:cs typeface="+mn-lt"/>
              </a:rPr>
              <a:t>, con un ancho igual al de la guía </a:t>
            </a:r>
            <a:r>
              <a:rPr lang="es-ES" sz="1600" i="1" err="1">
                <a:solidFill>
                  <a:srgbClr val="000000"/>
                </a:solidFill>
                <a:ea typeface="+mn-lt"/>
                <a:cs typeface="+mn-lt"/>
              </a:rPr>
              <a:t>deep-etched</a:t>
            </a:r>
            <a:r>
              <a:rPr lang="es-ES" sz="1600">
                <a:solidFill>
                  <a:srgbClr val="000000"/>
                </a:solidFill>
                <a:ea typeface="+mn-lt"/>
                <a:cs typeface="+mn-lt"/>
              </a:rPr>
              <a:t>, presenta mayores índices efectivos para las mismas longitudes de onda. Esto indica que ofrece mejores características de propagación que las guías </a:t>
            </a:r>
            <a:r>
              <a:rPr lang="es-ES" sz="1600" i="1" err="1">
                <a:solidFill>
                  <a:srgbClr val="000000"/>
                </a:solidFill>
                <a:ea typeface="+mn-lt"/>
                <a:cs typeface="+mn-lt"/>
              </a:rPr>
              <a:t>deep-etched</a:t>
            </a:r>
            <a:r>
              <a:rPr lang="es-ES" sz="1600">
                <a:solidFill>
                  <a:srgbClr val="000000"/>
                </a:solidFill>
                <a:ea typeface="+mn-lt"/>
                <a:cs typeface="+mn-lt"/>
              </a:rPr>
              <a:t>, debido a sus propiedades físicas, que permiten un mayor confinamiento del modo y menores pérdidas por atenuación.</a:t>
            </a:r>
            <a:endParaRPr lang="es-ES" sz="1600"/>
          </a:p>
          <a:p>
            <a:endParaRPr lang="es-ES">
              <a:solidFill>
                <a:srgbClr val="000000"/>
              </a:solidFill>
              <a:latin typeface="Calibri"/>
              <a:ea typeface="Calibri"/>
              <a:cs typeface="Calibri"/>
            </a:endParaRPr>
          </a:p>
          <a:p>
            <a:endParaRPr lang="es-ES"/>
          </a:p>
          <a:p>
            <a:endParaRPr lang="en-US"/>
          </a:p>
        </p:txBody>
      </p:sp>
      <p:sp>
        <p:nvSpPr>
          <p:cNvPr id="4" name="Marcador de pie de página 3">
            <a:extLst>
              <a:ext uri="{FF2B5EF4-FFF2-40B4-BE49-F238E27FC236}">
                <a16:creationId xmlns:a16="http://schemas.microsoft.com/office/drawing/2014/main" id="{61E11D20-8D98-4428-219B-BE717FDEA16E}"/>
              </a:ext>
            </a:extLst>
          </p:cNvPr>
          <p:cNvSpPr>
            <a:spLocks noGrp="1"/>
          </p:cNvSpPr>
          <p:nvPr>
            <p:ph type="ftr" sz="quarter" idx="5"/>
          </p:nvPr>
        </p:nvSpPr>
        <p:spPr/>
        <p:txBody>
          <a:bodyPr/>
          <a:lstStyle/>
          <a:p>
            <a:pPr marL="12700">
              <a:spcBef>
                <a:spcPts val="15"/>
              </a:spcBef>
            </a:pPr>
            <a:r>
              <a:rPr lang="es-ES" spc="-5"/>
              <a:t>LAB 1.0 WAVEGUIDES</a:t>
            </a:r>
          </a:p>
        </p:txBody>
      </p:sp>
      <p:sp>
        <p:nvSpPr>
          <p:cNvPr id="5" name="Marcador de número de diapositiva 4">
            <a:extLst>
              <a:ext uri="{FF2B5EF4-FFF2-40B4-BE49-F238E27FC236}">
                <a16:creationId xmlns:a16="http://schemas.microsoft.com/office/drawing/2014/main" id="{8D1D0195-3A93-A848-465B-AFB26CA95984}"/>
              </a:ext>
            </a:extLst>
          </p:cNvPr>
          <p:cNvSpPr>
            <a:spLocks noGrp="1"/>
          </p:cNvSpPr>
          <p:nvPr>
            <p:ph type="sldNum" sz="quarter" idx="7"/>
          </p:nvPr>
        </p:nvSpPr>
        <p:spPr/>
        <p:txBody>
          <a:bodyPr/>
          <a:lstStyle/>
          <a:p>
            <a:fld id="{B6F15528-21DE-4FAA-801E-634DDDAF4B2B}" type="slidenum">
              <a:rPr lang="es-ES" smtClean="0"/>
              <a:t>9</a:t>
            </a:fld>
            <a:endParaRPr lang="es-ES"/>
          </a:p>
        </p:txBody>
      </p:sp>
      <p:pic>
        <p:nvPicPr>
          <p:cNvPr id="10" name="Imagen 9" descr="Gráfico, Gráfico de líneas&#10;&#10;El contenido generado por IA puede ser incorrecto.">
            <a:extLst>
              <a:ext uri="{FF2B5EF4-FFF2-40B4-BE49-F238E27FC236}">
                <a16:creationId xmlns:a16="http://schemas.microsoft.com/office/drawing/2014/main" id="{58845E71-77BC-1F80-89F6-545DE760568E}"/>
              </a:ext>
            </a:extLst>
          </p:cNvPr>
          <p:cNvPicPr>
            <a:picLocks noChangeAspect="1"/>
          </p:cNvPicPr>
          <p:nvPr/>
        </p:nvPicPr>
        <p:blipFill>
          <a:blip r:embed="rId2"/>
          <a:stretch>
            <a:fillRect/>
          </a:stretch>
        </p:blipFill>
        <p:spPr>
          <a:xfrm>
            <a:off x="230946" y="3002132"/>
            <a:ext cx="5653828" cy="3175868"/>
          </a:xfrm>
          <a:prstGeom prst="rect">
            <a:avLst/>
          </a:prstGeom>
        </p:spPr>
      </p:pic>
      <p:pic>
        <p:nvPicPr>
          <p:cNvPr id="6" name="Imagen 5" descr="Gráfico, Gráfico de líneas&#10;&#10;El contenido generado por IA puede ser incorrecto.">
            <a:extLst>
              <a:ext uri="{FF2B5EF4-FFF2-40B4-BE49-F238E27FC236}">
                <a16:creationId xmlns:a16="http://schemas.microsoft.com/office/drawing/2014/main" id="{27DAC63B-A39A-9079-2AFF-F1480E709F8D}"/>
              </a:ext>
            </a:extLst>
          </p:cNvPr>
          <p:cNvPicPr>
            <a:picLocks noChangeAspect="1"/>
          </p:cNvPicPr>
          <p:nvPr/>
        </p:nvPicPr>
        <p:blipFill>
          <a:blip r:embed="rId3"/>
          <a:stretch>
            <a:fillRect/>
          </a:stretch>
        </p:blipFill>
        <p:spPr>
          <a:xfrm>
            <a:off x="5761649" y="3004843"/>
            <a:ext cx="6086475" cy="3156877"/>
          </a:xfrm>
          <a:prstGeom prst="rect">
            <a:avLst/>
          </a:prstGeom>
        </p:spPr>
      </p:pic>
    </p:spTree>
    <p:extLst>
      <p:ext uri="{BB962C8B-B14F-4D97-AF65-F5344CB8AC3E}">
        <p14:creationId xmlns:p14="http://schemas.microsoft.com/office/powerpoint/2010/main" val="15569730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#3 – Width dependence</a:t>
            </a:r>
            <a:br>
              <a:rPr lang="es-ES" sz="2500" spc="-5">
                <a:latin typeface="+mj-lt"/>
                <a:cs typeface="Lucida Sans"/>
              </a:rPr>
            </a:br>
            <a:r>
              <a:rPr lang="en-US" b="0"/>
              <a:t>Width 0.6 - 1.6 µm (step 0.1 µm) – Wavelength 1.55 µm </a:t>
            </a:r>
            <a:endParaRPr sz="2500" b="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10</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1.0 WAVEGUIDES</a:t>
            </a:r>
          </a:p>
        </p:txBody>
      </p:sp>
      <p:sp>
        <p:nvSpPr>
          <p:cNvPr id="2" name="CuadroTexto 1">
            <a:extLst>
              <a:ext uri="{FF2B5EF4-FFF2-40B4-BE49-F238E27FC236}">
                <a16:creationId xmlns:a16="http://schemas.microsoft.com/office/drawing/2014/main" id="{82A62DD6-5488-72A1-9926-0CAEE59089A9}"/>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Comment results (neff changes this way with width, polarization behavior, </a:t>
            </a:r>
            <a:r>
              <a:rPr lang="en-US" sz="1200" err="1">
                <a:latin typeface="Arial" panose="020B0604020202020204" pitchFamily="34" charset="0"/>
                <a:cs typeface="Arial" panose="020B0604020202020204" pitchFamily="34" charset="0"/>
              </a:rPr>
              <a:t>etc</a:t>
            </a:r>
            <a:r>
              <a:rPr lang="en-US" sz="1200">
                <a:latin typeface="Arial" panose="020B0604020202020204" pitchFamily="34" charset="0"/>
                <a:cs typeface="Arial" panose="020B0604020202020204" pitchFamily="34" charset="0"/>
              </a:rPr>
              <a:t>…)</a:t>
            </a: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FBC7D187-267A-ADD4-764C-D3820B8ED302}"/>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1EF5BFDA-8EC1-8C73-A932-F36C4DB93C73}"/>
              </a:ext>
            </a:extLst>
          </p:cNvPr>
          <p:cNvSpPr txBox="1"/>
          <p:nvPr/>
        </p:nvSpPr>
        <p:spPr>
          <a:xfrm>
            <a:off x="2286000" y="2671278"/>
            <a:ext cx="7718580" cy="923330"/>
          </a:xfrm>
          <a:prstGeom prst="rect">
            <a:avLst/>
          </a:prstGeom>
          <a:noFill/>
        </p:spPr>
        <p:txBody>
          <a:bodyPr wrap="square" rtlCol="0">
            <a:spAutoFit/>
          </a:bodyPr>
          <a:lstStyle/>
          <a:p>
            <a:pPr algn="ctr"/>
            <a:r>
              <a:rPr lang="en-US" b="1"/>
              <a:t>deep</a:t>
            </a:r>
            <a:r>
              <a:rPr lang="en-US"/>
              <a:t> waveguide</a:t>
            </a:r>
          </a:p>
          <a:p>
            <a:pPr algn="ctr"/>
            <a:endParaRPr lang="en-US"/>
          </a:p>
          <a:p>
            <a:pPr algn="ctr"/>
            <a:r>
              <a:rPr lang="en-US"/>
              <a:t>Paste plot here</a:t>
            </a:r>
          </a:p>
        </p:txBody>
      </p:sp>
    </p:spTree>
    <p:extLst>
      <p:ext uri="{BB962C8B-B14F-4D97-AF65-F5344CB8AC3E}">
        <p14:creationId xmlns:p14="http://schemas.microsoft.com/office/powerpoint/2010/main" val="29001174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889D7-9AE4-CCFE-4BC1-9E1B7B1F0E4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C8A6595-EAE7-D53A-A180-C7FA19810991}"/>
              </a:ext>
            </a:extLst>
          </p:cNvPr>
          <p:cNvSpPr>
            <a:spLocks noGrp="1"/>
          </p:cNvSpPr>
          <p:nvPr>
            <p:ph type="title"/>
          </p:nvPr>
        </p:nvSpPr>
        <p:spPr/>
        <p:txBody>
          <a:bodyPr wrap="square" lIns="0" tIns="0" rIns="0" bIns="0" anchor="t">
            <a:spAutoFit/>
          </a:bodyPr>
          <a:lstStyle/>
          <a:p>
            <a:r>
              <a:rPr lang="es-ES"/>
              <a:t>Resultados ejercicio 3</a:t>
            </a:r>
          </a:p>
        </p:txBody>
      </p:sp>
      <p:sp>
        <p:nvSpPr>
          <p:cNvPr id="3" name="Marcador de texto 2">
            <a:extLst>
              <a:ext uri="{FF2B5EF4-FFF2-40B4-BE49-F238E27FC236}">
                <a16:creationId xmlns:a16="http://schemas.microsoft.com/office/drawing/2014/main" id="{35B36C9C-2300-42CD-8982-59D1E8E17E6C}"/>
              </a:ext>
            </a:extLst>
          </p:cNvPr>
          <p:cNvSpPr>
            <a:spLocks noGrp="1"/>
          </p:cNvSpPr>
          <p:nvPr>
            <p:ph type="body" idx="1"/>
          </p:nvPr>
        </p:nvSpPr>
        <p:spPr>
          <a:xfrm>
            <a:off x="590550" y="789800"/>
            <a:ext cx="10991850" cy="1938992"/>
          </a:xfrm>
        </p:spPr>
        <p:txBody>
          <a:bodyPr wrap="square" lIns="0" tIns="0" rIns="0" bIns="0" anchor="t">
            <a:spAutoFit/>
          </a:bodyPr>
          <a:lstStyle/>
          <a:p>
            <a:r>
              <a:rPr lang="es-ES">
                <a:ea typeface="+mn-lt"/>
                <a:cs typeface="+mn-lt"/>
              </a:rPr>
              <a:t>En la siguiente gráfica se muestra el efecto que tiene el ancho del </a:t>
            </a:r>
            <a:r>
              <a:rPr lang="es-ES" err="1">
                <a:ea typeface="+mn-lt"/>
                <a:cs typeface="+mn-lt"/>
              </a:rPr>
              <a:t>core</a:t>
            </a:r>
            <a:r>
              <a:rPr lang="es-ES">
                <a:ea typeface="+mn-lt"/>
                <a:cs typeface="+mn-lt"/>
              </a:rPr>
              <a:t> (núcleo) de la guía de ondas sobre el índice efectivo de los distintos modos propagados. Se observa que, a medida que aumenta el ancho del </a:t>
            </a:r>
            <a:r>
              <a:rPr lang="es-ES" err="1">
                <a:ea typeface="+mn-lt"/>
                <a:cs typeface="+mn-lt"/>
              </a:rPr>
              <a:t>core</a:t>
            </a:r>
            <a:r>
              <a:rPr lang="es-ES">
                <a:ea typeface="+mn-lt"/>
                <a:cs typeface="+mn-lt"/>
              </a:rPr>
              <a:t>, el índice efectivo de los modos también aumenta. Cuando el núcleo de la guía es más grande, el campo electromagnético queda más concentrado dentro del material de mayor índice de refracción. Al haber menos campo en el </a:t>
            </a:r>
            <a:r>
              <a:rPr lang="es-ES" err="1">
                <a:ea typeface="+mn-lt"/>
                <a:cs typeface="+mn-lt"/>
              </a:rPr>
              <a:t>cladding</a:t>
            </a:r>
            <a:r>
              <a:rPr lang="es-ES">
                <a:ea typeface="+mn-lt"/>
                <a:cs typeface="+mn-lt"/>
              </a:rPr>
              <a:t>, el índice efectivo aumenta.</a:t>
            </a:r>
            <a:endParaRPr lang="es-ES">
              <a:solidFill>
                <a:srgbClr val="000000"/>
              </a:solidFill>
              <a:latin typeface="Calibri"/>
              <a:ea typeface="Calibri"/>
              <a:cs typeface="Calibri"/>
            </a:endParaRPr>
          </a:p>
          <a:p>
            <a:endParaRPr lang="es-ES"/>
          </a:p>
          <a:p>
            <a:endParaRPr lang="en-US"/>
          </a:p>
        </p:txBody>
      </p:sp>
      <p:sp>
        <p:nvSpPr>
          <p:cNvPr id="4" name="Marcador de pie de página 3">
            <a:extLst>
              <a:ext uri="{FF2B5EF4-FFF2-40B4-BE49-F238E27FC236}">
                <a16:creationId xmlns:a16="http://schemas.microsoft.com/office/drawing/2014/main" id="{3015EA36-3149-6051-E92A-13E96B6E8CF7}"/>
              </a:ext>
            </a:extLst>
          </p:cNvPr>
          <p:cNvSpPr>
            <a:spLocks noGrp="1"/>
          </p:cNvSpPr>
          <p:nvPr>
            <p:ph type="ftr" sz="quarter" idx="5"/>
          </p:nvPr>
        </p:nvSpPr>
        <p:spPr/>
        <p:txBody>
          <a:bodyPr/>
          <a:lstStyle/>
          <a:p>
            <a:pPr marL="12700">
              <a:spcBef>
                <a:spcPts val="15"/>
              </a:spcBef>
            </a:pPr>
            <a:r>
              <a:rPr lang="es-ES" spc="-5"/>
              <a:t>LAB 1.0 WAVEGUIDES</a:t>
            </a:r>
          </a:p>
        </p:txBody>
      </p:sp>
      <p:sp>
        <p:nvSpPr>
          <p:cNvPr id="5" name="Marcador de número de diapositiva 4">
            <a:extLst>
              <a:ext uri="{FF2B5EF4-FFF2-40B4-BE49-F238E27FC236}">
                <a16:creationId xmlns:a16="http://schemas.microsoft.com/office/drawing/2014/main" id="{B7E28196-5883-9FAD-631E-9AC7BA8D7091}"/>
              </a:ext>
            </a:extLst>
          </p:cNvPr>
          <p:cNvSpPr>
            <a:spLocks noGrp="1"/>
          </p:cNvSpPr>
          <p:nvPr>
            <p:ph type="sldNum" sz="quarter" idx="7"/>
          </p:nvPr>
        </p:nvSpPr>
        <p:spPr/>
        <p:txBody>
          <a:bodyPr/>
          <a:lstStyle/>
          <a:p>
            <a:fld id="{B6F15528-21DE-4FAA-801E-634DDDAF4B2B}" type="slidenum">
              <a:rPr lang="es-ES" smtClean="0"/>
              <a:t>11</a:t>
            </a:fld>
            <a:endParaRPr lang="es-ES"/>
          </a:p>
        </p:txBody>
      </p:sp>
      <p:pic>
        <p:nvPicPr>
          <p:cNvPr id="7" name="Imagen 6" descr="Gráfico, Gráfico de líneas&#10;&#10;El contenido generado por IA puede ser incorrecto.">
            <a:extLst>
              <a:ext uri="{FF2B5EF4-FFF2-40B4-BE49-F238E27FC236}">
                <a16:creationId xmlns:a16="http://schemas.microsoft.com/office/drawing/2014/main" id="{4004EC2A-0D85-8C73-F8AD-EEFCC7278D38}"/>
              </a:ext>
            </a:extLst>
          </p:cNvPr>
          <p:cNvPicPr>
            <a:picLocks noChangeAspect="1"/>
          </p:cNvPicPr>
          <p:nvPr/>
        </p:nvPicPr>
        <p:blipFill>
          <a:blip r:embed="rId2"/>
          <a:stretch>
            <a:fillRect/>
          </a:stretch>
        </p:blipFill>
        <p:spPr>
          <a:xfrm>
            <a:off x="2744098" y="2749895"/>
            <a:ext cx="6217893" cy="3633167"/>
          </a:xfrm>
          <a:prstGeom prst="rect">
            <a:avLst/>
          </a:prstGeom>
        </p:spPr>
      </p:pic>
    </p:spTree>
    <p:extLst>
      <p:ext uri="{BB962C8B-B14F-4D97-AF65-F5344CB8AC3E}">
        <p14:creationId xmlns:p14="http://schemas.microsoft.com/office/powerpoint/2010/main" val="39528942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DA0F9-B230-D9FC-3CE7-03BD08CF54F7}"/>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394400B4-EE16-8E85-AB54-E82FE3B29345}"/>
              </a:ext>
            </a:extLst>
          </p:cNvPr>
          <p:cNvSpPr txBox="1">
            <a:spLocks noGrp="1"/>
          </p:cNvSpPr>
          <p:nvPr>
            <p:ph type="title"/>
          </p:nvPr>
        </p:nvSpPr>
        <p:spPr>
          <a:xfrm>
            <a:off x="685800" y="408883"/>
            <a:ext cx="10994410" cy="1397819"/>
          </a:xfrm>
          <a:prstGeom prst="rect">
            <a:avLst/>
          </a:prstGeom>
        </p:spPr>
        <p:txBody>
          <a:bodyPr vert="horz" wrap="square" lIns="0" tIns="12700" rIns="0" bIns="0" rtlCol="0">
            <a:spAutoFit/>
          </a:bodyPr>
          <a:lstStyle/>
          <a:p>
            <a:pPr marL="12700">
              <a:lnSpc>
                <a:spcPct val="100000"/>
              </a:lnSpc>
              <a:spcBef>
                <a:spcPts val="100"/>
              </a:spcBef>
            </a:pPr>
            <a:r>
              <a:rPr lang="en-US" sz="2500"/>
              <a:t>Learning outcome #4 – Waveguide compact model</a:t>
            </a:r>
            <a:br>
              <a:rPr lang="en-US" sz="2500" spc="-5">
                <a:latin typeface="+mj-lt"/>
                <a:cs typeface="Lucida Sans"/>
              </a:rPr>
            </a:br>
            <a:r>
              <a:rPr lang="en-US" b="0"/>
              <a:t>- Find the compact models of the following waveguides: </a:t>
            </a:r>
            <a:br>
              <a:rPr lang="en-US" b="0"/>
            </a:br>
            <a:r>
              <a:rPr lang="en-US"/>
              <a:t>Deep</a:t>
            </a:r>
            <a:r>
              <a:rPr lang="en-US" b="0"/>
              <a:t> waveguide, h=300nm, w=1.2um   - </a:t>
            </a:r>
            <a:r>
              <a:rPr lang="en-US"/>
              <a:t>Shallow</a:t>
            </a:r>
            <a:r>
              <a:rPr lang="en-US" b="0"/>
              <a:t> waveguide, core h=300nm, slab h=150 nm, w = 1.2um </a:t>
            </a:r>
            <a:br>
              <a:rPr lang="en-US" b="0"/>
            </a:br>
            <a:endParaRPr lang="en-US" sz="2500" b="0">
              <a:latin typeface="+mj-lt"/>
              <a:cs typeface="Lucida Sans"/>
            </a:endParaRPr>
          </a:p>
        </p:txBody>
      </p:sp>
      <p:pic>
        <p:nvPicPr>
          <p:cNvPr id="83" name="Gráfico 82">
            <a:extLst>
              <a:ext uri="{FF2B5EF4-FFF2-40B4-BE49-F238E27FC236}">
                <a16:creationId xmlns:a16="http://schemas.microsoft.com/office/drawing/2014/main" id="{4D53B68D-17ED-7EFB-F2B4-10DA7A772E1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9AB8697-C1EE-6E9A-6550-ACA2C3AE6630}"/>
              </a:ext>
            </a:extLst>
          </p:cNvPr>
          <p:cNvSpPr>
            <a:spLocks noGrp="1"/>
          </p:cNvSpPr>
          <p:nvPr>
            <p:ph type="sldNum" sz="quarter" idx="7"/>
          </p:nvPr>
        </p:nvSpPr>
        <p:spPr/>
        <p:txBody>
          <a:bodyPr/>
          <a:lstStyle/>
          <a:p>
            <a:fld id="{B6F15528-21DE-4FAA-801E-634DDDAF4B2B}" type="slidenum">
              <a:rPr lang="es-ES" smtClean="0"/>
              <a:t>12</a:t>
            </a:fld>
            <a:endParaRPr lang="es-ES"/>
          </a:p>
        </p:txBody>
      </p:sp>
      <p:sp>
        <p:nvSpPr>
          <p:cNvPr id="3" name="Marcador de pie de página 2">
            <a:extLst>
              <a:ext uri="{FF2B5EF4-FFF2-40B4-BE49-F238E27FC236}">
                <a16:creationId xmlns:a16="http://schemas.microsoft.com/office/drawing/2014/main" id="{970D4A6C-5B37-EDF5-6242-74B16127E96B}"/>
              </a:ext>
            </a:extLst>
          </p:cNvPr>
          <p:cNvSpPr>
            <a:spLocks noGrp="1"/>
          </p:cNvSpPr>
          <p:nvPr>
            <p:ph type="ftr" sz="quarter" idx="5"/>
          </p:nvPr>
        </p:nvSpPr>
        <p:spPr/>
        <p:txBody>
          <a:bodyPr/>
          <a:lstStyle/>
          <a:p>
            <a:pPr marL="12700">
              <a:spcBef>
                <a:spcPts val="15"/>
              </a:spcBef>
            </a:pPr>
            <a:r>
              <a:rPr lang="es-ES" spc="-5"/>
              <a:t>LAB 1.0 WAVEGUIDES</a:t>
            </a:r>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A440F587-93A3-E474-C0B0-883BB9DAFD85}"/>
                  </a:ext>
                </a:extLst>
              </p:cNvPr>
              <p:cNvSpPr txBox="1"/>
              <p:nvPr/>
            </p:nvSpPr>
            <p:spPr>
              <a:xfrm>
                <a:off x="609441" y="4860334"/>
                <a:ext cx="11198542" cy="1361911"/>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Find the second-degree polynomial coefficients and relate them with the group index and the dispersion parameter. </a:t>
                </a:r>
                <a14:m>
                  <m:oMath xmlns:m="http://schemas.openxmlformats.org/officeDocument/2006/math">
                    <m:d>
                      <m:dPr>
                        <m:begChr m:val="{"/>
                        <m:endChr m:val=""/>
                        <m:ctrlPr>
                          <a:rPr lang="es-ES" sz="1200" b="0" i="1" smtClean="0">
                            <a:latin typeface="Cambria Math" panose="02040503050406030204" pitchFamily="18" charset="0"/>
                            <a:cs typeface="Arial" panose="020B0604020202020204" pitchFamily="34" charset="0"/>
                          </a:rPr>
                        </m:ctrlPr>
                      </m:dPr>
                      <m:e>
                        <m:eqArr>
                          <m:eqArrPr>
                            <m:ctrlPr>
                              <a:rPr lang="es-ES" sz="1200" b="0" i="1" smtClean="0">
                                <a:latin typeface="Cambria Math" panose="02040503050406030204" pitchFamily="18" charset="0"/>
                                <a:cs typeface="Arial" panose="020B0604020202020204" pitchFamily="34" charset="0"/>
                              </a:rPr>
                            </m:ctrlPr>
                          </m:eqArrPr>
                          <m:e>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𝑒𝑓𝑓</m:t>
                                </m:r>
                              </m:sub>
                            </m:sSub>
                            <m:r>
                              <a:rPr lang="es-ES" sz="1200" b="0" i="1" smtClean="0">
                                <a:latin typeface="Cambria Math" panose="02040503050406030204" pitchFamily="18" charset="0"/>
                                <a:cs typeface="Arial" panose="020B0604020202020204" pitchFamily="34" charset="0"/>
                              </a:rPr>
                              <m:t>=</m:t>
                            </m:r>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1</m:t>
                                </m:r>
                              </m:sub>
                            </m:sSub>
                          </m:e>
                          <m:e>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𝑔</m:t>
                                </m:r>
                              </m:sub>
                            </m:sSub>
                            <m:r>
                              <a:rPr lang="es-ES" sz="1200" b="0" i="1" smtClean="0">
                                <a:latin typeface="Cambria Math" panose="02040503050406030204" pitchFamily="18" charset="0"/>
                                <a:cs typeface="Arial" panose="020B0604020202020204" pitchFamily="34" charset="0"/>
                              </a:rPr>
                              <m:t>=</m:t>
                            </m:r>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1</m:t>
                                </m:r>
                              </m:sub>
                            </m:sSub>
                            <m:r>
                              <a:rPr lang="es-ES" sz="1200" b="0" i="1" smtClean="0">
                                <a:latin typeface="Cambria Math" panose="02040503050406030204" pitchFamily="18" charset="0"/>
                                <a:cs typeface="Arial" panose="020B0604020202020204" pitchFamily="34" charset="0"/>
                              </a:rPr>
                              <m:t>−</m:t>
                            </m:r>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2</m:t>
                                </m:r>
                              </m:sub>
                            </m:sSub>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𝜆</m:t>
                                </m:r>
                              </m:e>
                              <m:sub>
                                <m:r>
                                  <a:rPr lang="es-ES" sz="1200" b="0" i="1" smtClean="0">
                                    <a:latin typeface="Cambria Math" panose="02040503050406030204" pitchFamily="18" charset="0"/>
                                    <a:cs typeface="Arial" panose="020B0604020202020204" pitchFamily="34" charset="0"/>
                                  </a:rPr>
                                  <m:t>0</m:t>
                                </m:r>
                              </m:sub>
                            </m:sSub>
                          </m:e>
                          <m:e>
                            <m:r>
                              <a:rPr lang="es-ES" sz="1200" b="0" i="1" smtClean="0">
                                <a:latin typeface="Cambria Math" panose="02040503050406030204" pitchFamily="18" charset="0"/>
                                <a:cs typeface="Arial" panose="020B0604020202020204" pitchFamily="34" charset="0"/>
                              </a:rPr>
                              <m:t>𝐷</m:t>
                            </m:r>
                            <m:r>
                              <a:rPr lang="es-ES" sz="1200" b="0" i="1" smtClean="0">
                                <a:latin typeface="Cambria Math" panose="02040503050406030204" pitchFamily="18" charset="0"/>
                                <a:cs typeface="Arial" panose="020B0604020202020204" pitchFamily="34" charset="0"/>
                              </a:rPr>
                              <m:t>=−</m:t>
                            </m:r>
                            <m:f>
                              <m:fPr>
                                <m:ctrlPr>
                                  <a:rPr lang="es-ES" sz="1200" b="0" i="1" smtClean="0">
                                    <a:latin typeface="Cambria Math" panose="02040503050406030204" pitchFamily="18" charset="0"/>
                                    <a:cs typeface="Arial" panose="020B0604020202020204" pitchFamily="34" charset="0"/>
                                  </a:rPr>
                                </m:ctrlPr>
                              </m:fPr>
                              <m:num>
                                <m:r>
                                  <a:rPr lang="es-ES" sz="1200" b="0" i="1" smtClean="0">
                                    <a:latin typeface="Cambria Math" panose="02040503050406030204" pitchFamily="18" charset="0"/>
                                    <a:cs typeface="Arial" panose="020B0604020202020204" pitchFamily="34" charset="0"/>
                                  </a:rPr>
                                  <m:t>2</m:t>
                                </m:r>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𝜆</m:t>
                                    </m:r>
                                  </m:e>
                                  <m:sub>
                                    <m:r>
                                      <a:rPr lang="es-ES" sz="1200" b="0" i="1" smtClean="0">
                                        <a:latin typeface="Cambria Math" panose="02040503050406030204" pitchFamily="18" charset="0"/>
                                        <a:cs typeface="Arial" panose="020B0604020202020204" pitchFamily="34" charset="0"/>
                                      </a:rPr>
                                      <m:t>0</m:t>
                                    </m:r>
                                  </m:sub>
                                </m:sSub>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3</m:t>
                                    </m:r>
                                  </m:sub>
                                </m:sSub>
                              </m:num>
                              <m:den>
                                <m:r>
                                  <a:rPr lang="es-ES" sz="1200" b="0" i="1" smtClean="0">
                                    <a:latin typeface="Cambria Math" panose="02040503050406030204" pitchFamily="18" charset="0"/>
                                    <a:cs typeface="Arial" panose="020B0604020202020204" pitchFamily="34" charset="0"/>
                                  </a:rPr>
                                  <m:t>𝑐</m:t>
                                </m:r>
                              </m:den>
                            </m:f>
                            <m:d>
                              <m:dPr>
                                <m:begChr m:val="["/>
                                <m:endChr m:val="]"/>
                                <m:ctrlPr>
                                  <a:rPr lang="es-ES" sz="1200" b="0" i="1" smtClean="0">
                                    <a:latin typeface="Cambria Math" panose="02040503050406030204" pitchFamily="18" charset="0"/>
                                    <a:cs typeface="Arial" panose="020B0604020202020204" pitchFamily="34" charset="0"/>
                                  </a:rPr>
                                </m:ctrlPr>
                              </m:dPr>
                              <m:e>
                                <m:f>
                                  <m:fPr>
                                    <m:ctrlPr>
                                      <a:rPr lang="es-ES" sz="1200" b="0" i="1" smtClean="0">
                                        <a:latin typeface="Cambria Math" panose="02040503050406030204" pitchFamily="18" charset="0"/>
                                        <a:cs typeface="Arial" panose="020B0604020202020204" pitchFamily="34" charset="0"/>
                                      </a:rPr>
                                    </m:ctrlPr>
                                  </m:fPr>
                                  <m:num>
                                    <m:sSup>
                                      <m:sSupPr>
                                        <m:ctrlPr>
                                          <a:rPr lang="es-ES" sz="1200" b="0" i="1" smtClean="0">
                                            <a:latin typeface="Cambria Math" panose="02040503050406030204" pitchFamily="18" charset="0"/>
                                            <a:cs typeface="Arial" panose="020B0604020202020204" pitchFamily="34" charset="0"/>
                                          </a:rPr>
                                        </m:ctrlPr>
                                      </m:sSupPr>
                                      <m:e>
                                        <m:r>
                                          <a:rPr lang="es-ES" sz="1200" b="0" i="1" smtClean="0">
                                            <a:latin typeface="Cambria Math" panose="02040503050406030204" pitchFamily="18" charset="0"/>
                                            <a:cs typeface="Arial" panose="020B0604020202020204" pitchFamily="34" charset="0"/>
                                          </a:rPr>
                                          <m:t>𝑠</m:t>
                                        </m:r>
                                      </m:e>
                                      <m:sup>
                                        <m:r>
                                          <a:rPr lang="es-ES" sz="1200" b="0" i="1" smtClean="0">
                                            <a:latin typeface="Cambria Math" panose="02040503050406030204" pitchFamily="18" charset="0"/>
                                            <a:cs typeface="Arial" panose="020B0604020202020204" pitchFamily="34" charset="0"/>
                                          </a:rPr>
                                          <m:t>2</m:t>
                                        </m:r>
                                      </m:sup>
                                    </m:sSup>
                                  </m:num>
                                  <m:den>
                                    <m:r>
                                      <a:rPr lang="es-ES" sz="1200" b="0" i="1" smtClean="0">
                                        <a:latin typeface="Cambria Math" panose="02040503050406030204" pitchFamily="18" charset="0"/>
                                        <a:cs typeface="Arial" panose="020B0604020202020204" pitchFamily="34" charset="0"/>
                                      </a:rPr>
                                      <m:t>𝑚</m:t>
                                    </m:r>
                                  </m:den>
                                </m:f>
                              </m:e>
                            </m:d>
                          </m:e>
                        </m:eqArr>
                      </m:e>
                    </m:d>
                  </m:oMath>
                </a14:m>
                <a:endParaRPr lang="es-ES" sz="1200" b="0">
                  <a:latin typeface="Arial" panose="020B0604020202020204" pitchFamily="34" charset="0"/>
                  <a:cs typeface="Arial" panose="020B0604020202020204" pitchFamily="34" charset="0"/>
                </a:endParaRPr>
              </a:p>
              <a:p>
                <a:pPr algn="just"/>
                <a:r>
                  <a:rPr lang="en-US" sz="1200">
                    <a:latin typeface="Arial" panose="020B0604020202020204" pitchFamily="34" charset="0"/>
                    <a:cs typeface="Arial" panose="020B0604020202020204" pitchFamily="34" charset="0"/>
                  </a:rPr>
                  <a:t> </a:t>
                </a:r>
              </a:p>
              <a:p>
                <a:pPr algn="just"/>
                <a:r>
                  <a:rPr lang="en-US" sz="1200">
                    <a:latin typeface="Arial" panose="020B0604020202020204" pitchFamily="34" charset="0"/>
                    <a:cs typeface="Arial" panose="020B0604020202020204" pitchFamily="34" charset="0"/>
                  </a:rPr>
                  <a:t>Comment on the results found for the TE0 and TM0 for both deep and shallow waveguides. </a:t>
                </a:r>
              </a:p>
              <a:p>
                <a:pPr algn="just"/>
                <a:endParaRPr lang="en-US" sz="1200">
                  <a:latin typeface="Arial" panose="020B0604020202020204" pitchFamily="34" charset="0"/>
                  <a:cs typeface="Arial" panose="020B0604020202020204" pitchFamily="34" charset="0"/>
                </a:endParaRPr>
              </a:p>
            </p:txBody>
          </p:sp>
        </mc:Choice>
        <mc:Fallback xmlns="">
          <p:sp>
            <p:nvSpPr>
              <p:cNvPr id="2" name="CuadroTexto 1">
                <a:extLst>
                  <a:ext uri="{FF2B5EF4-FFF2-40B4-BE49-F238E27FC236}">
                    <a16:creationId xmlns:a16="http://schemas.microsoft.com/office/drawing/2014/main" id="{A440F587-93A3-E474-C0B0-883BB9DAFD85}"/>
                  </a:ext>
                </a:extLst>
              </p:cNvPr>
              <p:cNvSpPr txBox="1">
                <a:spLocks noRot="1" noChangeAspect="1" noMove="1" noResize="1" noEditPoints="1" noAdjustHandles="1" noChangeArrowheads="1" noChangeShapeType="1" noTextEdit="1"/>
              </p:cNvSpPr>
              <p:nvPr/>
            </p:nvSpPr>
            <p:spPr>
              <a:xfrm>
                <a:off x="609441" y="4860334"/>
                <a:ext cx="11198542" cy="1361911"/>
              </a:xfrm>
              <a:prstGeom prst="rect">
                <a:avLst/>
              </a:prstGeom>
              <a:blipFill>
                <a:blip r:embed="rId5"/>
                <a:stretch>
                  <a:fillRect/>
                </a:stretch>
              </a:blipFill>
              <a:ln w="28575">
                <a:solidFill>
                  <a:srgbClr val="E0700D"/>
                </a:solidFill>
              </a:ln>
            </p:spPr>
            <p:txBody>
              <a:bodyPr/>
              <a:lstStyle/>
              <a:p>
                <a:r>
                  <a:rPr lang="en-US">
                    <a:noFill/>
                  </a:rPr>
                  <a:t> </a:t>
                </a:r>
              </a:p>
            </p:txBody>
          </p:sp>
        </mc:Fallback>
      </mc:AlternateContent>
      <p:sp>
        <p:nvSpPr>
          <p:cNvPr id="5" name="Rectángulo 4">
            <a:extLst>
              <a:ext uri="{FF2B5EF4-FFF2-40B4-BE49-F238E27FC236}">
                <a16:creationId xmlns:a16="http://schemas.microsoft.com/office/drawing/2014/main" id="{A6B92C76-6772-2E00-346F-532321092C04}"/>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2886628E-6E58-1F7E-B6C6-432B9A228397}"/>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C59B6428-4395-242F-54D8-A9FC610F2D7A}"/>
                  </a:ext>
                </a:extLst>
              </p:cNvPr>
              <p:cNvSpPr txBox="1"/>
              <p:nvPr/>
            </p:nvSpPr>
            <p:spPr>
              <a:xfrm>
                <a:off x="609440" y="2709096"/>
                <a:ext cx="5486559" cy="1200329"/>
              </a:xfrm>
              <a:prstGeom prst="rect">
                <a:avLst/>
              </a:prstGeom>
              <a:noFill/>
            </p:spPr>
            <p:txBody>
              <a:bodyPr wrap="square" rtlCol="0">
                <a:spAutoFit/>
              </a:bodyPr>
              <a:lstStyle/>
              <a:p>
                <a:pPr algn="ctr"/>
                <a:r>
                  <a:rPr lang="en-US" b="1"/>
                  <a:t>deep</a:t>
                </a:r>
                <a:r>
                  <a:rPr lang="en-US"/>
                  <a:t> waveguide</a:t>
                </a:r>
              </a:p>
              <a:p>
                <a:pPr algn="ctr"/>
                <a:endParaRPr lang="en-US"/>
              </a:p>
              <a:p>
                <a:pPr algn="ctr"/>
                <a:r>
                  <a:rPr lang="en-US" b="1"/>
                  <a:t>neff_TE0 vs </a:t>
                </a:r>
                <a14:m>
                  <m:oMath xmlns:m="http://schemas.openxmlformats.org/officeDocument/2006/math">
                    <m:r>
                      <a:rPr lang="es-ES" b="1" i="1" smtClean="0">
                        <a:latin typeface="Cambria Math" panose="02040503050406030204" pitchFamily="18" charset="0"/>
                      </a:rPr>
                      <m:t>𝝀</m:t>
                    </m:r>
                  </m:oMath>
                </a14:m>
                <a:r>
                  <a:rPr lang="en-US" b="1"/>
                  <a:t> </a:t>
                </a:r>
                <a:r>
                  <a:rPr lang="en-US"/>
                  <a:t>with the second-degree polynomial fit  </a:t>
                </a:r>
              </a:p>
              <a:p>
                <a:pPr algn="ctr"/>
                <a:r>
                  <a:rPr lang="en-US"/>
                  <a:t>&amp; </a:t>
                </a:r>
                <a:r>
                  <a:rPr lang="en-US" b="1"/>
                  <a:t>neff_TM0 vs </a:t>
                </a:r>
                <a14:m>
                  <m:oMath xmlns:m="http://schemas.openxmlformats.org/officeDocument/2006/math">
                    <m:r>
                      <a:rPr lang="es-ES" b="1" i="1">
                        <a:latin typeface="Cambria Math" panose="02040503050406030204" pitchFamily="18" charset="0"/>
                      </a:rPr>
                      <m:t>𝝀</m:t>
                    </m:r>
                  </m:oMath>
                </a14:m>
                <a:r>
                  <a:rPr lang="en-US" b="1"/>
                  <a:t> </a:t>
                </a:r>
                <a:r>
                  <a:rPr lang="en-US"/>
                  <a:t>with the second-degree polynomial fit </a:t>
                </a:r>
              </a:p>
            </p:txBody>
          </p:sp>
        </mc:Choice>
        <mc:Fallback xmlns="">
          <p:sp>
            <p:nvSpPr>
              <p:cNvPr id="9" name="CuadroTexto 8">
                <a:extLst>
                  <a:ext uri="{FF2B5EF4-FFF2-40B4-BE49-F238E27FC236}">
                    <a16:creationId xmlns:a16="http://schemas.microsoft.com/office/drawing/2014/main" id="{C59B6428-4395-242F-54D8-A9FC610F2D7A}"/>
                  </a:ext>
                </a:extLst>
              </p:cNvPr>
              <p:cNvSpPr txBox="1">
                <a:spLocks noRot="1" noChangeAspect="1" noMove="1" noResize="1" noEditPoints="1" noAdjustHandles="1" noChangeArrowheads="1" noChangeShapeType="1" noTextEdit="1"/>
              </p:cNvSpPr>
              <p:nvPr/>
            </p:nvSpPr>
            <p:spPr>
              <a:xfrm>
                <a:off x="609440" y="2709096"/>
                <a:ext cx="5486559" cy="1200329"/>
              </a:xfrm>
              <a:prstGeom prst="rect">
                <a:avLst/>
              </a:prstGeom>
              <a:blipFill>
                <a:blip r:embed="rId6"/>
                <a:stretch>
                  <a:fillRect t="-2538" r="-556" b="-71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9320AF78-1FC6-19F4-8E0B-8A414F20C6DE}"/>
                  </a:ext>
                </a:extLst>
              </p:cNvPr>
              <p:cNvSpPr txBox="1"/>
              <p:nvPr/>
            </p:nvSpPr>
            <p:spPr>
              <a:xfrm>
                <a:off x="6321421" y="2709096"/>
                <a:ext cx="5486559" cy="1200329"/>
              </a:xfrm>
              <a:prstGeom prst="rect">
                <a:avLst/>
              </a:prstGeom>
              <a:noFill/>
            </p:spPr>
            <p:txBody>
              <a:bodyPr wrap="square" rtlCol="0">
                <a:spAutoFit/>
              </a:bodyPr>
              <a:lstStyle/>
              <a:p>
                <a:pPr algn="ctr"/>
                <a:r>
                  <a:rPr lang="en-US" b="1"/>
                  <a:t>shallow</a:t>
                </a:r>
                <a:r>
                  <a:rPr lang="en-US"/>
                  <a:t> waveguide</a:t>
                </a:r>
              </a:p>
              <a:p>
                <a:pPr algn="ctr"/>
                <a:endParaRPr lang="en-US"/>
              </a:p>
              <a:p>
                <a:pPr algn="ctr"/>
                <a:r>
                  <a:rPr lang="en-US" b="1"/>
                  <a:t>neff_TE0 vs </a:t>
                </a:r>
                <a14:m>
                  <m:oMath xmlns:m="http://schemas.openxmlformats.org/officeDocument/2006/math">
                    <m:r>
                      <a:rPr lang="es-ES" b="1" i="1">
                        <a:latin typeface="Cambria Math" panose="02040503050406030204" pitchFamily="18" charset="0"/>
                      </a:rPr>
                      <m:t>𝝀</m:t>
                    </m:r>
                  </m:oMath>
                </a14:m>
                <a:r>
                  <a:rPr lang="en-US" b="1"/>
                  <a:t> </a:t>
                </a:r>
                <a:r>
                  <a:rPr lang="en-US"/>
                  <a:t>with the second-degree polynomial fit  </a:t>
                </a:r>
              </a:p>
              <a:p>
                <a:pPr algn="ctr"/>
                <a:r>
                  <a:rPr lang="en-US"/>
                  <a:t>&amp; </a:t>
                </a:r>
                <a:r>
                  <a:rPr lang="en-US" b="1"/>
                  <a:t>neff_TM0 vs </a:t>
                </a:r>
                <a14:m>
                  <m:oMath xmlns:m="http://schemas.openxmlformats.org/officeDocument/2006/math">
                    <m:r>
                      <a:rPr lang="es-ES" b="1" i="1">
                        <a:latin typeface="Cambria Math" panose="02040503050406030204" pitchFamily="18" charset="0"/>
                      </a:rPr>
                      <m:t>𝝀</m:t>
                    </m:r>
                  </m:oMath>
                </a14:m>
                <a:r>
                  <a:rPr lang="en-US" b="1"/>
                  <a:t> </a:t>
                </a:r>
                <a:r>
                  <a:rPr lang="en-US"/>
                  <a:t>with the second-degree polynomial fit </a:t>
                </a:r>
              </a:p>
            </p:txBody>
          </p:sp>
        </mc:Choice>
        <mc:Fallback xmlns="">
          <p:sp>
            <p:nvSpPr>
              <p:cNvPr id="10" name="CuadroTexto 9">
                <a:extLst>
                  <a:ext uri="{FF2B5EF4-FFF2-40B4-BE49-F238E27FC236}">
                    <a16:creationId xmlns:a16="http://schemas.microsoft.com/office/drawing/2014/main" id="{9320AF78-1FC6-19F4-8E0B-8A414F20C6DE}"/>
                  </a:ext>
                </a:extLst>
              </p:cNvPr>
              <p:cNvSpPr txBox="1">
                <a:spLocks noRot="1" noChangeAspect="1" noMove="1" noResize="1" noEditPoints="1" noAdjustHandles="1" noChangeArrowheads="1" noChangeShapeType="1" noTextEdit="1"/>
              </p:cNvSpPr>
              <p:nvPr/>
            </p:nvSpPr>
            <p:spPr>
              <a:xfrm>
                <a:off x="6321421" y="2709096"/>
                <a:ext cx="5486559" cy="1200329"/>
              </a:xfrm>
              <a:prstGeom prst="rect">
                <a:avLst/>
              </a:prstGeom>
              <a:blipFill>
                <a:blip r:embed="rId7"/>
                <a:stretch>
                  <a:fillRect t="-2538" r="-556" b="-7107"/>
                </a:stretch>
              </a:blipFill>
            </p:spPr>
            <p:txBody>
              <a:bodyPr/>
              <a:lstStyle/>
              <a:p>
                <a:r>
                  <a:rPr lang="en-US">
                    <a:noFill/>
                  </a:rPr>
                  <a:t> </a:t>
                </a:r>
              </a:p>
            </p:txBody>
          </p:sp>
        </mc:Fallback>
      </mc:AlternateContent>
      <p:sp>
        <p:nvSpPr>
          <p:cNvPr id="8" name="CuadroTexto 7">
            <a:extLst>
              <a:ext uri="{FF2B5EF4-FFF2-40B4-BE49-F238E27FC236}">
                <a16:creationId xmlns:a16="http://schemas.microsoft.com/office/drawing/2014/main" id="{0F38E924-A0E7-A039-C837-916BA77FE89B}"/>
              </a:ext>
            </a:extLst>
          </p:cNvPr>
          <p:cNvSpPr txBox="1"/>
          <p:nvPr/>
        </p:nvSpPr>
        <p:spPr>
          <a:xfrm>
            <a:off x="6347361" y="4498712"/>
            <a:ext cx="5486560" cy="276999"/>
          </a:xfrm>
          <a:prstGeom prst="rect">
            <a:avLst/>
          </a:prstGeom>
          <a:noFill/>
        </p:spPr>
        <p:txBody>
          <a:bodyPr wrap="square">
            <a:spAutoFit/>
          </a:bodyPr>
          <a:lstStyle/>
          <a:p>
            <a:pPr algn="r"/>
            <a:r>
              <a:rPr lang="en-US" sz="1200" b="1">
                <a:solidFill>
                  <a:schemeClr val="tx1"/>
                </a:solidFill>
                <a:latin typeface="Arial" panose="020B0604020202020204" pitchFamily="34" charset="0"/>
                <a:cs typeface="Arial" panose="020B0604020202020204" pitchFamily="34" charset="0"/>
              </a:rPr>
              <a:t>slab: 150nm</a:t>
            </a:r>
            <a:endParaRPr lang="en-US" sz="120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60544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AF312-6AFC-60EC-C295-20C9254C04B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BC0B39A-3D9E-F01A-AB20-D549037BBA37}"/>
              </a:ext>
            </a:extLst>
          </p:cNvPr>
          <p:cNvSpPr>
            <a:spLocks noGrp="1"/>
          </p:cNvSpPr>
          <p:nvPr>
            <p:ph type="title"/>
          </p:nvPr>
        </p:nvSpPr>
        <p:spPr/>
        <p:txBody>
          <a:bodyPr wrap="square" lIns="0" tIns="0" rIns="0" bIns="0" anchor="t">
            <a:spAutoFit/>
          </a:bodyPr>
          <a:lstStyle/>
          <a:p>
            <a:r>
              <a:rPr lang="es-ES" dirty="0"/>
              <a:t>Resultados ejercicio 4</a:t>
            </a:r>
          </a:p>
        </p:txBody>
      </p:sp>
      <p:sp>
        <p:nvSpPr>
          <p:cNvPr id="3" name="Marcador de texto 2">
            <a:extLst>
              <a:ext uri="{FF2B5EF4-FFF2-40B4-BE49-F238E27FC236}">
                <a16:creationId xmlns:a16="http://schemas.microsoft.com/office/drawing/2014/main" id="{AE793DA3-3372-514F-BEFD-7E57BBDE402C}"/>
              </a:ext>
            </a:extLst>
          </p:cNvPr>
          <p:cNvSpPr>
            <a:spLocks noGrp="1"/>
          </p:cNvSpPr>
          <p:nvPr>
            <p:ph type="body" idx="1"/>
          </p:nvPr>
        </p:nvSpPr>
        <p:spPr>
          <a:xfrm>
            <a:off x="590550" y="789800"/>
            <a:ext cx="10991850" cy="2492990"/>
          </a:xfrm>
        </p:spPr>
        <p:txBody>
          <a:bodyPr wrap="square" lIns="0" tIns="0" rIns="0" bIns="0" anchor="t">
            <a:spAutoFit/>
          </a:bodyPr>
          <a:lstStyle/>
          <a:p>
            <a:r>
              <a:rPr lang="es-ES" dirty="0">
                <a:ea typeface="+mn-lt"/>
                <a:cs typeface="+mn-lt"/>
              </a:rPr>
              <a:t>Los siguientes resultados muestran el índice efectivo, índice de grupo y dispersión cromática de los modos TE0 y TM0 para una guía Deep y una </a:t>
            </a:r>
            <a:r>
              <a:rPr lang="es-ES" dirty="0" err="1">
                <a:ea typeface="+mn-lt"/>
                <a:cs typeface="+mn-lt"/>
              </a:rPr>
              <a:t>guia</a:t>
            </a:r>
            <a:r>
              <a:rPr lang="es-ES" dirty="0">
                <a:ea typeface="+mn-lt"/>
                <a:cs typeface="+mn-lt"/>
              </a:rPr>
              <a:t> </a:t>
            </a:r>
            <a:r>
              <a:rPr lang="es-ES" dirty="0" err="1">
                <a:ea typeface="+mn-lt"/>
                <a:cs typeface="+mn-lt"/>
              </a:rPr>
              <a:t>shallow</a:t>
            </a:r>
            <a:r>
              <a:rPr lang="es-ES" dirty="0">
                <a:ea typeface="+mn-lt"/>
                <a:cs typeface="+mn-lt"/>
              </a:rPr>
              <a:t>. Se puede observar como el valor del índice efectivo (correspondiente a la posición 2 del vector obtenido tras usar la </a:t>
            </a:r>
            <a:r>
              <a:rPr lang="es-ES" dirty="0" err="1">
                <a:ea typeface="+mn-lt"/>
                <a:cs typeface="+mn-lt"/>
              </a:rPr>
              <a:t>funcion</a:t>
            </a:r>
            <a:r>
              <a:rPr lang="es-ES" dirty="0">
                <a:ea typeface="+mn-lt"/>
                <a:cs typeface="+mn-lt"/>
              </a:rPr>
              <a:t> </a:t>
            </a:r>
            <a:r>
              <a:rPr lang="es-ES" dirty="0" err="1">
                <a:ea typeface="+mn-lt"/>
                <a:cs typeface="+mn-lt"/>
              </a:rPr>
              <a:t>polyfit</a:t>
            </a:r>
            <a:r>
              <a:rPr lang="es-ES" dirty="0">
                <a:ea typeface="+mn-lt"/>
                <a:cs typeface="+mn-lt"/>
              </a:rPr>
              <a:t>) coincide con el valor del vector obtenido antes de usar la función </a:t>
            </a:r>
            <a:r>
              <a:rPr lang="es-ES" dirty="0" err="1">
                <a:ea typeface="+mn-lt"/>
                <a:cs typeface="+mn-lt"/>
              </a:rPr>
              <a:t>polyfit</a:t>
            </a:r>
            <a:r>
              <a:rPr lang="es-ES" dirty="0">
                <a:ea typeface="+mn-lt"/>
                <a:cs typeface="+mn-lt"/>
              </a:rPr>
              <a:t> (correspondiente a la posición 5 del vector), siendo el valor inicial del índice efectivo en la gráfica que muestra la variación del mismo en longitud de onda.</a:t>
            </a:r>
          </a:p>
          <a:p>
            <a:r>
              <a:rPr lang="es-ES" dirty="0">
                <a:ea typeface="+mn-lt"/>
                <a:cs typeface="+mn-lt"/>
              </a:rPr>
              <a:t>Se puede observar también como el índice n2 siempre es negativo, ya que representa la pendiente de la recta en la gráfica y, dado que el índice disminuye cuando aumenta la longitud de onda, esta siempre es negativa</a:t>
            </a:r>
          </a:p>
          <a:p>
            <a:endParaRPr lang="es-ES" dirty="0"/>
          </a:p>
          <a:p>
            <a:endParaRPr lang="en-US" dirty="0"/>
          </a:p>
        </p:txBody>
      </p:sp>
      <p:sp>
        <p:nvSpPr>
          <p:cNvPr id="4" name="Marcador de pie de página 3">
            <a:extLst>
              <a:ext uri="{FF2B5EF4-FFF2-40B4-BE49-F238E27FC236}">
                <a16:creationId xmlns:a16="http://schemas.microsoft.com/office/drawing/2014/main" id="{E9CE01F7-1B81-EA48-42C3-B6258059512E}"/>
              </a:ext>
            </a:extLst>
          </p:cNvPr>
          <p:cNvSpPr>
            <a:spLocks noGrp="1"/>
          </p:cNvSpPr>
          <p:nvPr>
            <p:ph type="ftr" sz="quarter" idx="5"/>
          </p:nvPr>
        </p:nvSpPr>
        <p:spPr/>
        <p:txBody>
          <a:bodyPr/>
          <a:lstStyle/>
          <a:p>
            <a:pPr marL="12700">
              <a:spcBef>
                <a:spcPts val="15"/>
              </a:spcBef>
            </a:pPr>
            <a:r>
              <a:rPr lang="es-ES" spc="-5"/>
              <a:t>LAB 1.0 WAVEGUIDES</a:t>
            </a:r>
          </a:p>
        </p:txBody>
      </p:sp>
      <p:sp>
        <p:nvSpPr>
          <p:cNvPr id="5" name="Marcador de número de diapositiva 4">
            <a:extLst>
              <a:ext uri="{FF2B5EF4-FFF2-40B4-BE49-F238E27FC236}">
                <a16:creationId xmlns:a16="http://schemas.microsoft.com/office/drawing/2014/main" id="{D8EA4C89-953D-C1CE-6B87-96787B1FF5D6}"/>
              </a:ext>
            </a:extLst>
          </p:cNvPr>
          <p:cNvSpPr>
            <a:spLocks noGrp="1"/>
          </p:cNvSpPr>
          <p:nvPr>
            <p:ph type="sldNum" sz="quarter" idx="7"/>
          </p:nvPr>
        </p:nvSpPr>
        <p:spPr/>
        <p:txBody>
          <a:bodyPr/>
          <a:lstStyle/>
          <a:p>
            <a:fld id="{B6F15528-21DE-4FAA-801E-634DDDAF4B2B}" type="slidenum">
              <a:rPr lang="es-ES" smtClean="0"/>
              <a:t>13</a:t>
            </a:fld>
            <a:endParaRPr lang="es-ES"/>
          </a:p>
        </p:txBody>
      </p:sp>
      <p:pic>
        <p:nvPicPr>
          <p:cNvPr id="15" name="Imagen 14">
            <a:extLst>
              <a:ext uri="{FF2B5EF4-FFF2-40B4-BE49-F238E27FC236}">
                <a16:creationId xmlns:a16="http://schemas.microsoft.com/office/drawing/2014/main" id="{87CF8604-215A-4141-D710-EE92DC39B286}"/>
              </a:ext>
            </a:extLst>
          </p:cNvPr>
          <p:cNvPicPr>
            <a:picLocks noChangeAspect="1"/>
          </p:cNvPicPr>
          <p:nvPr/>
        </p:nvPicPr>
        <p:blipFill>
          <a:blip r:embed="rId2"/>
          <a:stretch>
            <a:fillRect/>
          </a:stretch>
        </p:blipFill>
        <p:spPr>
          <a:xfrm>
            <a:off x="844337" y="3218415"/>
            <a:ext cx="5284493" cy="2492990"/>
          </a:xfrm>
          <a:prstGeom prst="rect">
            <a:avLst/>
          </a:prstGeom>
        </p:spPr>
      </p:pic>
      <p:pic>
        <p:nvPicPr>
          <p:cNvPr id="17" name="Imagen 16">
            <a:extLst>
              <a:ext uri="{FF2B5EF4-FFF2-40B4-BE49-F238E27FC236}">
                <a16:creationId xmlns:a16="http://schemas.microsoft.com/office/drawing/2014/main" id="{F3D9CBA0-2CC7-F6D7-0849-899F5AD216F4}"/>
              </a:ext>
            </a:extLst>
          </p:cNvPr>
          <p:cNvPicPr>
            <a:picLocks noChangeAspect="1"/>
          </p:cNvPicPr>
          <p:nvPr/>
        </p:nvPicPr>
        <p:blipFill>
          <a:blip r:embed="rId3"/>
          <a:stretch>
            <a:fillRect/>
          </a:stretch>
        </p:blipFill>
        <p:spPr>
          <a:xfrm>
            <a:off x="6278687" y="3218415"/>
            <a:ext cx="5303713" cy="2492990"/>
          </a:xfrm>
          <a:prstGeom prst="rect">
            <a:avLst/>
          </a:prstGeom>
        </p:spPr>
      </p:pic>
    </p:spTree>
    <p:extLst>
      <p:ext uri="{BB962C8B-B14F-4D97-AF65-F5344CB8AC3E}">
        <p14:creationId xmlns:p14="http://schemas.microsoft.com/office/powerpoint/2010/main" val="29620721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34E70-43B1-3881-1771-20FB4358471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2C31CE-19F0-B995-0997-9A2D6A879BF7}"/>
              </a:ext>
            </a:extLst>
          </p:cNvPr>
          <p:cNvSpPr txBox="1">
            <a:spLocks noGrp="1"/>
          </p:cNvSpPr>
          <p:nvPr>
            <p:ph type="title"/>
          </p:nvPr>
        </p:nvSpPr>
        <p:spPr>
          <a:xfrm>
            <a:off x="685800" y="408883"/>
            <a:ext cx="10994410" cy="1090042"/>
          </a:xfrm>
          <a:prstGeom prst="rect">
            <a:avLst/>
          </a:prstGeom>
        </p:spPr>
        <p:txBody>
          <a:bodyPr vert="horz" wrap="square" lIns="0" tIns="12700" rIns="0" bIns="0" rtlCol="0">
            <a:spAutoFit/>
          </a:bodyPr>
          <a:lstStyle/>
          <a:p>
            <a:pPr marL="12700">
              <a:lnSpc>
                <a:spcPct val="100000"/>
              </a:lnSpc>
              <a:spcBef>
                <a:spcPts val="100"/>
              </a:spcBef>
            </a:pPr>
            <a:r>
              <a:rPr lang="en-US" sz="2500"/>
              <a:t>Learning outcome #5 – Bend waveguide radius vs. loss – deep</a:t>
            </a:r>
            <a:br>
              <a:rPr lang="en-US" sz="2500"/>
            </a:br>
            <a:r>
              <a:rPr lang="en-US" b="0"/>
              <a:t>Find  neff_TE0 for </a:t>
            </a:r>
            <a:r>
              <a:rPr lang="en-US" b="0" err="1"/>
              <a:t>wvl</a:t>
            </a:r>
            <a:r>
              <a:rPr lang="en-US" b="0"/>
              <a:t> 1.55 µm, width 1.2 µm for R=25,50,75,100, 125,150 µm</a:t>
            </a:r>
            <a:br>
              <a:rPr lang="en-US" sz="2500"/>
            </a:br>
            <a:endParaRPr lang="en-US" sz="2500" b="0">
              <a:latin typeface="+mj-lt"/>
              <a:cs typeface="Lucida Sans"/>
            </a:endParaRPr>
          </a:p>
        </p:txBody>
      </p:sp>
      <p:pic>
        <p:nvPicPr>
          <p:cNvPr id="83" name="Gráfico 82">
            <a:extLst>
              <a:ext uri="{FF2B5EF4-FFF2-40B4-BE49-F238E27FC236}">
                <a16:creationId xmlns:a16="http://schemas.microsoft.com/office/drawing/2014/main" id="{D688A609-F3DC-EE34-C536-683E70F32EA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6C672C6-89D4-7E67-2B94-811D081786A7}"/>
              </a:ext>
            </a:extLst>
          </p:cNvPr>
          <p:cNvSpPr>
            <a:spLocks noGrp="1"/>
          </p:cNvSpPr>
          <p:nvPr>
            <p:ph type="sldNum" sz="quarter" idx="7"/>
          </p:nvPr>
        </p:nvSpPr>
        <p:spPr/>
        <p:txBody>
          <a:bodyPr/>
          <a:lstStyle/>
          <a:p>
            <a:fld id="{B6F15528-21DE-4FAA-801E-634DDDAF4B2B}" type="slidenum">
              <a:rPr lang="es-ES" smtClean="0"/>
              <a:t>14</a:t>
            </a:fld>
            <a:endParaRPr lang="es-ES"/>
          </a:p>
        </p:txBody>
      </p:sp>
      <p:sp>
        <p:nvSpPr>
          <p:cNvPr id="3" name="Marcador de pie de página 2">
            <a:extLst>
              <a:ext uri="{FF2B5EF4-FFF2-40B4-BE49-F238E27FC236}">
                <a16:creationId xmlns:a16="http://schemas.microsoft.com/office/drawing/2014/main" id="{AA1F4313-D710-7A3E-7A8F-EB77DEE3C1A7}"/>
              </a:ext>
            </a:extLst>
          </p:cNvPr>
          <p:cNvSpPr>
            <a:spLocks noGrp="1"/>
          </p:cNvSpPr>
          <p:nvPr>
            <p:ph type="ftr" sz="quarter" idx="5"/>
          </p:nvPr>
        </p:nvSpPr>
        <p:spPr/>
        <p:txBody>
          <a:bodyPr/>
          <a:lstStyle/>
          <a:p>
            <a:pPr marL="12700">
              <a:spcBef>
                <a:spcPts val="15"/>
              </a:spcBef>
            </a:pPr>
            <a:r>
              <a:rPr lang="es-ES" spc="-5"/>
              <a:t>LAB 1.0 WAVEGUIDES</a:t>
            </a:r>
          </a:p>
        </p:txBody>
      </p:sp>
      <p:sp>
        <p:nvSpPr>
          <p:cNvPr id="2" name="CuadroTexto 1">
            <a:extLst>
              <a:ext uri="{FF2B5EF4-FFF2-40B4-BE49-F238E27FC236}">
                <a16:creationId xmlns:a16="http://schemas.microsoft.com/office/drawing/2014/main" id="{FDE3A197-9508-F9F1-1FEB-FF883D78C151}"/>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Comment results, which is the safe radius?, consider safe means less than 0.1 dB/90º.</a:t>
            </a:r>
          </a:p>
          <a:p>
            <a:pPr algn="just"/>
            <a:endParaRPr lang="en-US" sz="1200" u="sng">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B5FE8755-B0BF-14B7-64E6-4BBB2560B9A6}"/>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331EBD86-BA6C-68C9-2D38-FC8CFBA7ADC4}"/>
              </a:ext>
            </a:extLst>
          </p:cNvPr>
          <p:cNvSpPr txBox="1"/>
          <p:nvPr/>
        </p:nvSpPr>
        <p:spPr>
          <a:xfrm>
            <a:off x="2978141" y="2784355"/>
            <a:ext cx="6235717" cy="923330"/>
          </a:xfrm>
          <a:prstGeom prst="rect">
            <a:avLst/>
          </a:prstGeom>
          <a:noFill/>
        </p:spPr>
        <p:txBody>
          <a:bodyPr wrap="square" rtlCol="0">
            <a:spAutoFit/>
          </a:bodyPr>
          <a:lstStyle/>
          <a:p>
            <a:pPr algn="ctr"/>
            <a:r>
              <a:rPr lang="en-US" b="1"/>
              <a:t>deep</a:t>
            </a:r>
            <a:r>
              <a:rPr lang="en-US"/>
              <a:t> waveguide</a:t>
            </a:r>
          </a:p>
          <a:p>
            <a:pPr algn="ctr"/>
            <a:endParaRPr lang="en-US"/>
          </a:p>
          <a:p>
            <a:pPr algn="ctr"/>
            <a:r>
              <a:rPr lang="en-US"/>
              <a:t>Paste Total Loss (dB/90º) vs R &amp; neff_TE0 vs R</a:t>
            </a:r>
          </a:p>
        </p:txBody>
      </p:sp>
    </p:spTree>
    <p:extLst>
      <p:ext uri="{BB962C8B-B14F-4D97-AF65-F5344CB8AC3E}">
        <p14:creationId xmlns:p14="http://schemas.microsoft.com/office/powerpoint/2010/main" val="36604382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D3D9C-F238-7D9E-E71D-D2E5242C87F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24449FD-ED34-F980-5171-CC3BB1F8E4F3}"/>
              </a:ext>
            </a:extLst>
          </p:cNvPr>
          <p:cNvSpPr>
            <a:spLocks noGrp="1"/>
          </p:cNvSpPr>
          <p:nvPr>
            <p:ph type="title"/>
          </p:nvPr>
        </p:nvSpPr>
        <p:spPr/>
        <p:txBody>
          <a:bodyPr wrap="square" lIns="0" tIns="0" rIns="0" bIns="0" anchor="t">
            <a:spAutoFit/>
          </a:bodyPr>
          <a:lstStyle/>
          <a:p>
            <a:r>
              <a:rPr lang="es-ES"/>
              <a:t>Resultados ejercicio 5</a:t>
            </a:r>
          </a:p>
        </p:txBody>
      </p:sp>
      <p:sp>
        <p:nvSpPr>
          <p:cNvPr id="3" name="Marcador de texto 2">
            <a:extLst>
              <a:ext uri="{FF2B5EF4-FFF2-40B4-BE49-F238E27FC236}">
                <a16:creationId xmlns:a16="http://schemas.microsoft.com/office/drawing/2014/main" id="{9B4E6D21-71EA-3A6E-1B01-1D30DBA9FFC0}"/>
              </a:ext>
            </a:extLst>
          </p:cNvPr>
          <p:cNvSpPr>
            <a:spLocks noGrp="1"/>
          </p:cNvSpPr>
          <p:nvPr>
            <p:ph type="body" idx="1"/>
          </p:nvPr>
        </p:nvSpPr>
        <p:spPr>
          <a:xfrm>
            <a:off x="590550" y="789800"/>
            <a:ext cx="10991850" cy="2492990"/>
          </a:xfrm>
        </p:spPr>
        <p:txBody>
          <a:bodyPr wrap="square" lIns="0" tIns="0" rIns="0" bIns="0" anchor="t">
            <a:spAutoFit/>
          </a:bodyPr>
          <a:lstStyle/>
          <a:p>
            <a:r>
              <a:rPr lang="es-ES">
                <a:ea typeface="+mn-lt"/>
                <a:cs typeface="+mn-lt"/>
              </a:rPr>
              <a:t>En las siguientes gráficas se muestra el efecto de aumentar el tamaño de la guía de ondas con el objetivo de reducir las pérdidas producidas por la curvatura. Se puede observar que las pérdidas asociadas a la curvatura corresponden a las representadas en azul, mientras que las pérdidas de propagación están relacionadas con el tamaño de la guía. A medida que aumenta el ancho de la guía, las pérdidas por curvatura disminuyen significativamente, lo que reduce inicialmente las pérdidas totales. Sin embargo, al seguir aumentando el ancho, las pérdidas de propagación comienzan a incrementarse, llegando a un punto en el que las pérdidas totales vuelven a aumentar. Esto ocurre porque el incremento de las pérdidas de propagación supera la reducción obtenida en las pérdidas por curvatura.</a:t>
            </a:r>
          </a:p>
          <a:p>
            <a:endParaRPr lang="es-ES"/>
          </a:p>
          <a:p>
            <a:endParaRPr lang="en-US"/>
          </a:p>
        </p:txBody>
      </p:sp>
      <p:sp>
        <p:nvSpPr>
          <p:cNvPr id="4" name="Marcador de pie de página 3">
            <a:extLst>
              <a:ext uri="{FF2B5EF4-FFF2-40B4-BE49-F238E27FC236}">
                <a16:creationId xmlns:a16="http://schemas.microsoft.com/office/drawing/2014/main" id="{5C9F478E-7F7D-C06E-7149-3D1A8ED57938}"/>
              </a:ext>
            </a:extLst>
          </p:cNvPr>
          <p:cNvSpPr>
            <a:spLocks noGrp="1"/>
          </p:cNvSpPr>
          <p:nvPr>
            <p:ph type="ftr" sz="quarter" idx="5"/>
          </p:nvPr>
        </p:nvSpPr>
        <p:spPr/>
        <p:txBody>
          <a:bodyPr/>
          <a:lstStyle/>
          <a:p>
            <a:pPr marL="12700">
              <a:spcBef>
                <a:spcPts val="15"/>
              </a:spcBef>
            </a:pPr>
            <a:r>
              <a:rPr lang="es-ES" spc="-5"/>
              <a:t>LAB 1.0 WAVEGUIDES</a:t>
            </a:r>
          </a:p>
        </p:txBody>
      </p:sp>
      <p:sp>
        <p:nvSpPr>
          <p:cNvPr id="5" name="Marcador de número de diapositiva 4">
            <a:extLst>
              <a:ext uri="{FF2B5EF4-FFF2-40B4-BE49-F238E27FC236}">
                <a16:creationId xmlns:a16="http://schemas.microsoft.com/office/drawing/2014/main" id="{98E5C03F-FCBE-9DD8-E3F3-A548A4967A8D}"/>
              </a:ext>
            </a:extLst>
          </p:cNvPr>
          <p:cNvSpPr>
            <a:spLocks noGrp="1"/>
          </p:cNvSpPr>
          <p:nvPr>
            <p:ph type="sldNum" sz="quarter" idx="7"/>
          </p:nvPr>
        </p:nvSpPr>
        <p:spPr/>
        <p:txBody>
          <a:bodyPr/>
          <a:lstStyle/>
          <a:p>
            <a:fld id="{B6F15528-21DE-4FAA-801E-634DDDAF4B2B}" type="slidenum">
              <a:rPr lang="es-ES" smtClean="0"/>
              <a:t>15</a:t>
            </a:fld>
            <a:endParaRPr lang="es-ES"/>
          </a:p>
        </p:txBody>
      </p:sp>
      <p:pic>
        <p:nvPicPr>
          <p:cNvPr id="9" name="Imagen 8" descr="Gráfico, Gráfico de dispersión&#10;&#10;El contenido generado por IA puede ser incorrecto.">
            <a:extLst>
              <a:ext uri="{FF2B5EF4-FFF2-40B4-BE49-F238E27FC236}">
                <a16:creationId xmlns:a16="http://schemas.microsoft.com/office/drawing/2014/main" id="{65180660-E2BE-1DC3-EDCF-5D18BE1A24D1}"/>
              </a:ext>
            </a:extLst>
          </p:cNvPr>
          <p:cNvPicPr>
            <a:picLocks noChangeAspect="1"/>
          </p:cNvPicPr>
          <p:nvPr/>
        </p:nvPicPr>
        <p:blipFill>
          <a:blip r:embed="rId2"/>
          <a:stretch>
            <a:fillRect/>
          </a:stretch>
        </p:blipFill>
        <p:spPr>
          <a:xfrm>
            <a:off x="6120156" y="2765425"/>
            <a:ext cx="5705338" cy="3900282"/>
          </a:xfrm>
          <a:prstGeom prst="rect">
            <a:avLst/>
          </a:prstGeom>
        </p:spPr>
      </p:pic>
      <p:pic>
        <p:nvPicPr>
          <p:cNvPr id="10" name="Imagen 9" descr="Gráfico, Gráfico de dispersión&#10;&#10;El contenido generado por IA puede ser incorrecto.">
            <a:extLst>
              <a:ext uri="{FF2B5EF4-FFF2-40B4-BE49-F238E27FC236}">
                <a16:creationId xmlns:a16="http://schemas.microsoft.com/office/drawing/2014/main" id="{E4FF2D18-26F1-0C68-06E9-969C705D1D77}"/>
              </a:ext>
            </a:extLst>
          </p:cNvPr>
          <p:cNvPicPr>
            <a:picLocks noChangeAspect="1"/>
          </p:cNvPicPr>
          <p:nvPr/>
        </p:nvPicPr>
        <p:blipFill>
          <a:blip r:embed="rId3"/>
          <a:stretch>
            <a:fillRect/>
          </a:stretch>
        </p:blipFill>
        <p:spPr>
          <a:xfrm>
            <a:off x="606633" y="2762179"/>
            <a:ext cx="5512216" cy="3906770"/>
          </a:xfrm>
          <a:prstGeom prst="rect">
            <a:avLst/>
          </a:prstGeom>
        </p:spPr>
      </p:pic>
    </p:spTree>
    <p:extLst>
      <p:ext uri="{BB962C8B-B14F-4D97-AF65-F5344CB8AC3E}">
        <p14:creationId xmlns:p14="http://schemas.microsoft.com/office/powerpoint/2010/main" val="9781711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F5AB65-7A06-B010-4E6A-41CDCDB7AFD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11DD380-2C79-6B97-A569-D8A5CB26677E}"/>
              </a:ext>
            </a:extLst>
          </p:cNvPr>
          <p:cNvSpPr>
            <a:spLocks noGrp="1"/>
          </p:cNvSpPr>
          <p:nvPr>
            <p:ph type="title"/>
          </p:nvPr>
        </p:nvSpPr>
        <p:spPr/>
        <p:txBody>
          <a:bodyPr wrap="square" lIns="0" tIns="0" rIns="0" bIns="0" anchor="t">
            <a:spAutoFit/>
          </a:bodyPr>
          <a:lstStyle/>
          <a:p>
            <a:r>
              <a:rPr lang="es-ES">
                <a:ea typeface="Calibri"/>
              </a:rPr>
              <a:t>Resultados Apartados Extra</a:t>
            </a:r>
            <a:endParaRPr lang="es-ES"/>
          </a:p>
        </p:txBody>
      </p:sp>
      <p:sp>
        <p:nvSpPr>
          <p:cNvPr id="4" name="Marcador de pie de página 3">
            <a:extLst>
              <a:ext uri="{FF2B5EF4-FFF2-40B4-BE49-F238E27FC236}">
                <a16:creationId xmlns:a16="http://schemas.microsoft.com/office/drawing/2014/main" id="{E265D46D-03BD-F070-9B28-5D12C4542BFC}"/>
              </a:ext>
            </a:extLst>
          </p:cNvPr>
          <p:cNvSpPr>
            <a:spLocks noGrp="1"/>
          </p:cNvSpPr>
          <p:nvPr>
            <p:ph type="ftr" sz="quarter" idx="5"/>
          </p:nvPr>
        </p:nvSpPr>
        <p:spPr/>
        <p:txBody>
          <a:bodyPr/>
          <a:lstStyle/>
          <a:p>
            <a:pPr marL="12700">
              <a:spcBef>
                <a:spcPts val="15"/>
              </a:spcBef>
            </a:pPr>
            <a:r>
              <a:rPr lang="es-ES" spc="-5"/>
              <a:t>LAB 1.0 WAVEGUIDES</a:t>
            </a:r>
          </a:p>
        </p:txBody>
      </p:sp>
      <p:sp>
        <p:nvSpPr>
          <p:cNvPr id="5" name="Marcador de número de diapositiva 4">
            <a:extLst>
              <a:ext uri="{FF2B5EF4-FFF2-40B4-BE49-F238E27FC236}">
                <a16:creationId xmlns:a16="http://schemas.microsoft.com/office/drawing/2014/main" id="{6BF3EA8E-9EBE-F5B3-21C4-39C1282D46C4}"/>
              </a:ext>
            </a:extLst>
          </p:cNvPr>
          <p:cNvSpPr>
            <a:spLocks noGrp="1"/>
          </p:cNvSpPr>
          <p:nvPr>
            <p:ph type="sldNum" sz="quarter" idx="7"/>
          </p:nvPr>
        </p:nvSpPr>
        <p:spPr/>
        <p:txBody>
          <a:bodyPr/>
          <a:lstStyle/>
          <a:p>
            <a:fld id="{B6F15528-21DE-4FAA-801E-634DDDAF4B2B}" type="slidenum">
              <a:rPr lang="es-ES"/>
              <a:t>16</a:t>
            </a:fld>
            <a:endParaRPr lang="es-ES"/>
          </a:p>
        </p:txBody>
      </p:sp>
      <p:pic>
        <p:nvPicPr>
          <p:cNvPr id="6" name="Imagen 5" descr="Gráfico, Gráfico de líneas&#10;&#10;El contenido generado por IA puede ser incorrecto.">
            <a:extLst>
              <a:ext uri="{FF2B5EF4-FFF2-40B4-BE49-F238E27FC236}">
                <a16:creationId xmlns:a16="http://schemas.microsoft.com/office/drawing/2014/main" id="{BA600E8B-E727-8C64-1E39-27F61C20A0D8}"/>
              </a:ext>
            </a:extLst>
          </p:cNvPr>
          <p:cNvPicPr>
            <a:picLocks noChangeAspect="1"/>
          </p:cNvPicPr>
          <p:nvPr/>
        </p:nvPicPr>
        <p:blipFill>
          <a:blip r:embed="rId2"/>
          <a:stretch>
            <a:fillRect/>
          </a:stretch>
        </p:blipFill>
        <p:spPr>
          <a:xfrm>
            <a:off x="342900" y="519111"/>
            <a:ext cx="4626115" cy="2771776"/>
          </a:xfrm>
          <a:prstGeom prst="rect">
            <a:avLst/>
          </a:prstGeom>
        </p:spPr>
      </p:pic>
      <p:pic>
        <p:nvPicPr>
          <p:cNvPr id="7" name="Imagen 6" descr="Gráfico, Gráfico de líneas&#10;&#10;El contenido generado por IA puede ser incorrecto.">
            <a:extLst>
              <a:ext uri="{FF2B5EF4-FFF2-40B4-BE49-F238E27FC236}">
                <a16:creationId xmlns:a16="http://schemas.microsoft.com/office/drawing/2014/main" id="{28217FED-5D8C-C44F-A4E6-8C033218B8C5}"/>
              </a:ext>
            </a:extLst>
          </p:cNvPr>
          <p:cNvPicPr>
            <a:picLocks noChangeAspect="1"/>
          </p:cNvPicPr>
          <p:nvPr/>
        </p:nvPicPr>
        <p:blipFill>
          <a:blip r:embed="rId3"/>
          <a:stretch>
            <a:fillRect/>
          </a:stretch>
        </p:blipFill>
        <p:spPr>
          <a:xfrm>
            <a:off x="6090272" y="361259"/>
            <a:ext cx="4936849" cy="2932872"/>
          </a:xfrm>
          <a:prstGeom prst="rect">
            <a:avLst/>
          </a:prstGeom>
        </p:spPr>
      </p:pic>
      <p:pic>
        <p:nvPicPr>
          <p:cNvPr id="8" name="Imagen 7" descr="Gráfico, Gráfico de líneas&#10;&#10;El contenido generado por IA puede ser incorrecto.">
            <a:extLst>
              <a:ext uri="{FF2B5EF4-FFF2-40B4-BE49-F238E27FC236}">
                <a16:creationId xmlns:a16="http://schemas.microsoft.com/office/drawing/2014/main" id="{D4EA3716-0BDE-942F-137E-CDCDB130DF6B}"/>
              </a:ext>
            </a:extLst>
          </p:cNvPr>
          <p:cNvPicPr>
            <a:picLocks noChangeAspect="1"/>
          </p:cNvPicPr>
          <p:nvPr/>
        </p:nvPicPr>
        <p:blipFill>
          <a:blip r:embed="rId4"/>
          <a:stretch>
            <a:fillRect/>
          </a:stretch>
        </p:blipFill>
        <p:spPr>
          <a:xfrm>
            <a:off x="349181" y="3467720"/>
            <a:ext cx="4801290" cy="2760732"/>
          </a:xfrm>
          <a:prstGeom prst="rect">
            <a:avLst/>
          </a:prstGeom>
        </p:spPr>
      </p:pic>
      <p:pic>
        <p:nvPicPr>
          <p:cNvPr id="9" name="Imagen 8" descr="Gráfico, Gráfico de dispersión&#10;&#10;El contenido generado por IA puede ser incorrecto.">
            <a:extLst>
              <a:ext uri="{FF2B5EF4-FFF2-40B4-BE49-F238E27FC236}">
                <a16:creationId xmlns:a16="http://schemas.microsoft.com/office/drawing/2014/main" id="{97986BA7-5FF6-E589-68FD-F1F5FDC4416D}"/>
              </a:ext>
            </a:extLst>
          </p:cNvPr>
          <p:cNvPicPr>
            <a:picLocks noChangeAspect="1"/>
          </p:cNvPicPr>
          <p:nvPr/>
        </p:nvPicPr>
        <p:blipFill>
          <a:blip r:embed="rId5"/>
          <a:stretch>
            <a:fillRect/>
          </a:stretch>
        </p:blipFill>
        <p:spPr>
          <a:xfrm>
            <a:off x="6180138" y="3293784"/>
            <a:ext cx="4768160" cy="3219039"/>
          </a:xfrm>
          <a:prstGeom prst="rect">
            <a:avLst/>
          </a:prstGeom>
        </p:spPr>
      </p:pic>
    </p:spTree>
    <p:extLst>
      <p:ext uri="{BB962C8B-B14F-4D97-AF65-F5344CB8AC3E}">
        <p14:creationId xmlns:p14="http://schemas.microsoft.com/office/powerpoint/2010/main" val="23437520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C94BD87-C7F0-DE06-3F75-084F2C2421A0}"/>
              </a:ext>
            </a:extLst>
          </p:cNvPr>
          <p:cNvSpPr>
            <a:spLocks noGrp="1"/>
          </p:cNvSpPr>
          <p:nvPr>
            <p:ph type="title"/>
          </p:nvPr>
        </p:nvSpPr>
        <p:spPr/>
        <p:txBody>
          <a:bodyPr wrap="square" lIns="0" tIns="0" rIns="0" bIns="0" anchor="t">
            <a:spAutoFit/>
          </a:bodyPr>
          <a:lstStyle/>
          <a:p>
            <a:r>
              <a:rPr lang="es-ES">
                <a:ea typeface="Calibri"/>
              </a:rPr>
              <a:t>Comentarios de los resultados obtenidos en los apartados extra</a:t>
            </a:r>
            <a:endParaRPr lang="es-ES"/>
          </a:p>
        </p:txBody>
      </p:sp>
      <p:sp>
        <p:nvSpPr>
          <p:cNvPr id="3" name="Marcador de texto 2">
            <a:extLst>
              <a:ext uri="{FF2B5EF4-FFF2-40B4-BE49-F238E27FC236}">
                <a16:creationId xmlns:a16="http://schemas.microsoft.com/office/drawing/2014/main" id="{77226372-643E-850B-A629-46BC6050D368}"/>
              </a:ext>
            </a:extLst>
          </p:cNvPr>
          <p:cNvSpPr>
            <a:spLocks noGrp="1"/>
          </p:cNvSpPr>
          <p:nvPr>
            <p:ph type="body" idx="1"/>
          </p:nvPr>
        </p:nvSpPr>
        <p:spPr>
          <a:xfrm>
            <a:off x="598715" y="792196"/>
            <a:ext cx="10983685" cy="2769989"/>
          </a:xfrm>
        </p:spPr>
        <p:txBody>
          <a:bodyPr wrap="square" lIns="0" tIns="0" rIns="0" bIns="0" anchor="t">
            <a:spAutoFit/>
          </a:bodyPr>
          <a:lstStyle/>
          <a:p>
            <a:pPr algn="l"/>
            <a:r>
              <a:rPr lang="es-ES">
                <a:ea typeface="+mn-lt"/>
                <a:cs typeface="+mn-lt"/>
              </a:rPr>
              <a:t>En las tres primeras gráficas se puede observar como las características de las nuevas guías de onda tanto en modo </a:t>
            </a:r>
            <a:r>
              <a:rPr lang="es-ES" err="1">
                <a:ea typeface="+mn-lt"/>
                <a:cs typeface="+mn-lt"/>
              </a:rPr>
              <a:t>deep</a:t>
            </a:r>
            <a:r>
              <a:rPr lang="es-ES">
                <a:ea typeface="+mn-lt"/>
                <a:cs typeface="+mn-lt"/>
              </a:rPr>
              <a:t> como en modo </a:t>
            </a:r>
            <a:r>
              <a:rPr lang="es-ES" err="1">
                <a:ea typeface="+mn-lt"/>
                <a:cs typeface="+mn-lt"/>
              </a:rPr>
              <a:t>shallow</a:t>
            </a:r>
            <a:r>
              <a:rPr lang="es-ES">
                <a:ea typeface="+mn-lt"/>
                <a:cs typeface="+mn-lt"/>
              </a:rPr>
              <a:t> obtienen mayores niveles de índices efectivos, esto se debe a que a pesar de que las </a:t>
            </a:r>
            <a:r>
              <a:rPr lang="es-ES" err="1">
                <a:ea typeface="+mn-lt"/>
                <a:cs typeface="+mn-lt"/>
              </a:rPr>
              <a:t>guias</a:t>
            </a:r>
            <a:r>
              <a:rPr lang="es-ES">
                <a:ea typeface="+mn-lt"/>
                <a:cs typeface="+mn-lt"/>
              </a:rPr>
              <a:t> son más pequeñas y por lo tanto la señal de su interior debería tender a atenuarse en el </a:t>
            </a:r>
            <a:r>
              <a:rPr lang="es-ES" err="1">
                <a:ea typeface="+mn-lt"/>
                <a:cs typeface="+mn-lt"/>
              </a:rPr>
              <a:t>cladding</a:t>
            </a:r>
            <a:r>
              <a:rPr lang="es-ES">
                <a:ea typeface="+mn-lt"/>
                <a:cs typeface="+mn-lt"/>
              </a:rPr>
              <a:t> y tener un índice efectivo menor. El material de silicio del </a:t>
            </a:r>
            <a:r>
              <a:rPr lang="es-ES" err="1">
                <a:ea typeface="+mn-lt"/>
                <a:cs typeface="+mn-lt"/>
              </a:rPr>
              <a:t>core</a:t>
            </a:r>
            <a:r>
              <a:rPr lang="es-ES">
                <a:ea typeface="+mn-lt"/>
                <a:cs typeface="+mn-lt"/>
              </a:rPr>
              <a:t> que tiene un índice de refracción hace que se compense y mejore sus prestaciones ya que el índice del silicio es mucho mayor al índice del material usado en los otros apartados (Silicon </a:t>
            </a:r>
            <a:r>
              <a:rPr lang="es-ES" err="1">
                <a:ea typeface="+mn-lt"/>
                <a:cs typeface="+mn-lt"/>
              </a:rPr>
              <a:t>nitride</a:t>
            </a:r>
            <a:r>
              <a:rPr lang="es-ES">
                <a:ea typeface="+mn-lt"/>
                <a:cs typeface="+mn-lt"/>
              </a:rPr>
              <a:t>).</a:t>
            </a:r>
            <a:endParaRPr lang="es-ES"/>
          </a:p>
          <a:p>
            <a:pPr algn="l"/>
            <a:r>
              <a:rPr lang="es-ES">
                <a:ea typeface="+mn-lt"/>
                <a:cs typeface="+mn-lt"/>
              </a:rPr>
              <a:t>Por otro lado, en la última gráfica se puede apreciar como también esta nueva guía de ondas sufre menores perdidas por curvatura, lo que hace que no sea necesario el aumento de sus dimensiones, ya que no se llega a compensar la mitigación de las pérdidas de modo por el aumento de las perdidas por propagación.</a:t>
            </a:r>
          </a:p>
          <a:p>
            <a:endParaRPr lang="es-ES">
              <a:solidFill>
                <a:srgbClr val="000000"/>
              </a:solidFill>
              <a:latin typeface="Calibri"/>
              <a:ea typeface="Calibri"/>
              <a:cs typeface="Calibri"/>
            </a:endParaRPr>
          </a:p>
        </p:txBody>
      </p:sp>
      <p:sp>
        <p:nvSpPr>
          <p:cNvPr id="4" name="Marcador de pie de página 3">
            <a:extLst>
              <a:ext uri="{FF2B5EF4-FFF2-40B4-BE49-F238E27FC236}">
                <a16:creationId xmlns:a16="http://schemas.microsoft.com/office/drawing/2014/main" id="{2EBBD70D-EBBE-8ED4-145D-A6EB810A051B}"/>
              </a:ext>
            </a:extLst>
          </p:cNvPr>
          <p:cNvSpPr>
            <a:spLocks noGrp="1"/>
          </p:cNvSpPr>
          <p:nvPr>
            <p:ph type="ftr" sz="quarter" idx="5"/>
          </p:nvPr>
        </p:nvSpPr>
        <p:spPr/>
        <p:txBody>
          <a:bodyPr/>
          <a:lstStyle/>
          <a:p>
            <a:pPr marL="12700">
              <a:spcBef>
                <a:spcPts val="15"/>
              </a:spcBef>
            </a:pPr>
            <a:r>
              <a:rPr lang="es-ES" spc="-5"/>
              <a:t>LAB 1.0 WAVEGUIDES</a:t>
            </a:r>
          </a:p>
        </p:txBody>
      </p:sp>
      <p:sp>
        <p:nvSpPr>
          <p:cNvPr id="5" name="Marcador de número de diapositiva 4">
            <a:extLst>
              <a:ext uri="{FF2B5EF4-FFF2-40B4-BE49-F238E27FC236}">
                <a16:creationId xmlns:a16="http://schemas.microsoft.com/office/drawing/2014/main" id="{EC76C11A-5954-42F1-F97F-89078EC522FE}"/>
              </a:ext>
            </a:extLst>
          </p:cNvPr>
          <p:cNvSpPr>
            <a:spLocks noGrp="1"/>
          </p:cNvSpPr>
          <p:nvPr>
            <p:ph type="sldNum" sz="quarter" idx="7"/>
          </p:nvPr>
        </p:nvSpPr>
        <p:spPr/>
        <p:txBody>
          <a:bodyPr/>
          <a:lstStyle/>
          <a:p>
            <a:fld id="{B6F15528-21DE-4FAA-801E-634DDDAF4B2B}" type="slidenum">
              <a:rPr lang="es-ES"/>
              <a:t>17</a:t>
            </a:fld>
            <a:endParaRPr lang="es-ES"/>
          </a:p>
        </p:txBody>
      </p:sp>
    </p:spTree>
    <p:extLst>
      <p:ext uri="{BB962C8B-B14F-4D97-AF65-F5344CB8AC3E}">
        <p14:creationId xmlns:p14="http://schemas.microsoft.com/office/powerpoint/2010/main" val="35822509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a:solidFill>
                  <a:srgbClr val="FFFFFF"/>
                </a:solidFill>
                <a:latin typeface="Lucida Sans"/>
                <a:cs typeface="Lucida Sans"/>
              </a:rPr>
              <a:t>Thank</a:t>
            </a:r>
            <a:r>
              <a:rPr sz="3200" b="1" spc="-55">
                <a:solidFill>
                  <a:srgbClr val="FFFFFF"/>
                </a:solidFill>
                <a:latin typeface="Lucida Sans"/>
                <a:cs typeface="Lucida Sans"/>
              </a:rPr>
              <a:t> </a:t>
            </a:r>
            <a:r>
              <a:rPr sz="3200" b="1">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18</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5a0ea503-171e-44d1-a654-3e138e2b80c2"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3BF4603751B9444685CDB4ECC960774B" ma:contentTypeVersion="5" ma:contentTypeDescription="Crear nuevo documento." ma:contentTypeScope="" ma:versionID="a9efdd10dac46e736cd6d199655a3100">
  <xsd:schema xmlns:xsd="http://www.w3.org/2001/XMLSchema" xmlns:xs="http://www.w3.org/2001/XMLSchema" xmlns:p="http://schemas.microsoft.com/office/2006/metadata/properties" xmlns:ns3="5a0ea503-171e-44d1-a654-3e138e2b80c2" targetNamespace="http://schemas.microsoft.com/office/2006/metadata/properties" ma:root="true" ma:fieldsID="232e27a25a78b7021c88471bc8741fed" ns3:_="">
    <xsd:import namespace="5a0ea503-171e-44d1-a654-3e138e2b80c2"/>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a0ea503-171e-44d1-a654-3e138e2b80c2"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A4F81BB-63AC-4139-A1DC-5FB24059722B}">
  <ds:schemaRefs>
    <ds:schemaRef ds:uri="5a0ea503-171e-44d1-a654-3e138e2b80c2"/>
    <ds:schemaRef ds:uri="http://purl.org/dc/elements/1.1/"/>
    <ds:schemaRef ds:uri="http://purl.org/dc/dcmitype/"/>
    <ds:schemaRef ds:uri="http://schemas.openxmlformats.org/package/2006/metadata/core-properties"/>
    <ds:schemaRef ds:uri="http://www.w3.org/XML/1998/namespace"/>
    <ds:schemaRef ds:uri="http://schemas.microsoft.com/office/2006/metadata/properties"/>
    <ds:schemaRef ds:uri="http://schemas.microsoft.com/office/infopath/2007/PartnerControls"/>
    <ds:schemaRef ds:uri="http://schemas.microsoft.com/office/2006/documentManagement/types"/>
    <ds:schemaRef ds:uri="http://purl.org/dc/terms/"/>
  </ds:schemaRefs>
</ds:datastoreItem>
</file>

<file path=customXml/itemProps2.xml><?xml version="1.0" encoding="utf-8"?>
<ds:datastoreItem xmlns:ds="http://schemas.openxmlformats.org/officeDocument/2006/customXml" ds:itemID="{8E7AEC5B-9D3F-46B7-9682-43190C254938}">
  <ds:schemaRefs>
    <ds:schemaRef ds:uri="http://schemas.microsoft.com/sharepoint/v3/contenttype/forms"/>
  </ds:schemaRefs>
</ds:datastoreItem>
</file>

<file path=customXml/itemProps3.xml><?xml version="1.0" encoding="utf-8"?>
<ds:datastoreItem xmlns:ds="http://schemas.openxmlformats.org/officeDocument/2006/customXml" ds:itemID="{69418B81-3A69-4636-B372-0C693DC71D5E}">
  <ds:schemaRefs>
    <ds:schemaRef ds:uri="5a0ea503-171e-44d1-a654-3e138e2b80c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0</TotalTime>
  <Words>1854</Words>
  <Application>Microsoft Office PowerPoint</Application>
  <PresentationFormat>Panorámica</PresentationFormat>
  <Paragraphs>152</Paragraphs>
  <Slides>18</Slides>
  <Notes>5</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18</vt:i4>
      </vt:variant>
    </vt:vector>
  </HeadingPairs>
  <TitlesOfParts>
    <vt:vector size="26" baseType="lpstr">
      <vt:lpstr>Aptos</vt:lpstr>
      <vt:lpstr>Arial</vt:lpstr>
      <vt:lpstr>Calibri</vt:lpstr>
      <vt:lpstr>Cambria Math</vt:lpstr>
      <vt:lpstr>Lucida Sans</vt:lpstr>
      <vt:lpstr>Times New Roman</vt:lpstr>
      <vt:lpstr>Wingdings</vt:lpstr>
      <vt:lpstr>Office Theme</vt:lpstr>
      <vt:lpstr>Presentación de PowerPoint</vt:lpstr>
      <vt:lpstr>Instructions General</vt:lpstr>
      <vt:lpstr>Learning outcome #1 – Effective index of a waveguide </vt:lpstr>
      <vt:lpstr>Resultados ejercicio 1  En las primeras gráficas se pueden visualizar los índices de refracción respecto a la longitud de onda en micrómetros que presentan los distintos materiales con los que vamos a trabajar. Se puede visualizar como en una longitud de onda de 1.50 µm el cristalino de silicio tiene un índice de 3.479, el nitruro de silicio de aproximadamente 2, el dióxido de silicio de 1.46. Lo que quiere decir que las ondas tendrán una mayor velocidad de fase retransmitiéndose en guías de ondas en dióxido de silicio, seguido del nitruro de silicio y por último el cristalino de silicio.</vt:lpstr>
      <vt:lpstr>Resultados ejercicio 1</vt:lpstr>
      <vt:lpstr>Resultados ejercicio 1</vt:lpstr>
      <vt:lpstr>Resultados ejercicio 1</vt:lpstr>
      <vt:lpstr>Learning outcome #2 – Wavelength behavior Wavelength 1.5-1.6 µm (step 0.01 µm) – width 1.2 µm</vt:lpstr>
      <vt:lpstr>Resultados ejercicio 2</vt:lpstr>
      <vt:lpstr>Learning outcome #3 – Width dependence Width 0.6 - 1.6 µm (step 0.1 µm) – Wavelength 1.55 µm </vt:lpstr>
      <vt:lpstr>Resultados ejercicio 3</vt:lpstr>
      <vt:lpstr>Learning outcome #4 – Waveguide compact model - Find the compact models of the following waveguides:  Deep waveguide, h=300nm, w=1.2um   - Shallow waveguide, core h=300nm, slab h=150 nm, w = 1.2um  </vt:lpstr>
      <vt:lpstr>Resultados ejercicio 4</vt:lpstr>
      <vt:lpstr>Learning outcome #5 – Bend waveguide radius vs. loss – deep Find  neff_TE0 for wvl 1.55 µm, width 1.2 µm for R=25,50,75,100, 125,150 µm </vt:lpstr>
      <vt:lpstr>Resultados ejercicio 5</vt:lpstr>
      <vt:lpstr>Resultados Apartados Extra</vt:lpstr>
      <vt:lpstr>Comentarios de los resultados obtenidos en los apartados extra</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Gabriel Manrique de Lara Rincon</cp:lastModifiedBy>
  <cp:revision>1</cp:revision>
  <dcterms:created xsi:type="dcterms:W3CDTF">2025-01-27T02:46:57Z</dcterms:created>
  <dcterms:modified xsi:type="dcterms:W3CDTF">2026-03-15T23:13:59Z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y fmtid="{D5CDD505-2E9C-101B-9397-08002B2CF9AE}" pid="5" name="ContentTypeId">
    <vt:lpwstr>0x0101003BF4603751B9444685CDB4ECC960774B</vt:lpwstr>
  </property>
</Properties>
</file>